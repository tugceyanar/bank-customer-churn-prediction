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85"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1" r:id="rId23"/>
    <p:sldId id="282" r:id="rId24"/>
    <p:sldId id="283" r:id="rId25"/>
    <p:sldId id="284" r:id="rId26"/>
  </p:sldIdLst>
  <p:sldSz cx="9144000" cy="5143500" type="screen16x9"/>
  <p:notesSz cx="6858000" cy="987266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427"/>
    <p:restoredTop sz="94610"/>
  </p:normalViewPr>
  <p:slideViewPr>
    <p:cSldViewPr snapToGrid="0" snapToObjects="1">
      <p:cViewPr varScale="1">
        <p:scale>
          <a:sx n="111" d="100"/>
          <a:sy n="111" d="100"/>
        </p:scale>
        <p:origin x="208"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143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A1F3D"/>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4F5F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A1F3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8000" y="274320"/>
            <a:ext cx="2560320" cy="2560320"/>
          </a:xfrm>
          <a:prstGeom prst="ellipse">
            <a:avLst/>
          </a:prstGeom>
          <a:solidFill>
            <a:srgbClr val="4A6CF7">
              <a:alpha val="15000"/>
            </a:srgbClr>
          </a:solidFill>
          <a:ln/>
        </p:spPr>
        <p:txBody>
          <a:bodyPr/>
          <a:lstStyle/>
          <a:p>
            <a:endParaRPr lang="en-US" dirty="0"/>
          </a:p>
        </p:txBody>
      </p:sp>
      <p:sp>
        <p:nvSpPr>
          <p:cNvPr id="3" name="Shape 1"/>
          <p:cNvSpPr/>
          <p:nvPr/>
        </p:nvSpPr>
        <p:spPr>
          <a:xfrm>
            <a:off x="7315200" y="731520"/>
            <a:ext cx="1645920" cy="1645920"/>
          </a:xfrm>
          <a:prstGeom prst="ellipse">
            <a:avLst/>
          </a:prstGeom>
          <a:solidFill>
            <a:srgbClr val="4A6CF7">
              <a:alpha val="30000"/>
            </a:srgbClr>
          </a:solidFill>
          <a:ln/>
        </p:spPr>
        <p:txBody>
          <a:bodyPr/>
          <a:lstStyle/>
          <a:p>
            <a:endParaRPr lang="en-US" dirty="0"/>
          </a:p>
        </p:txBody>
      </p:sp>
      <p:sp>
        <p:nvSpPr>
          <p:cNvPr id="4" name="Text 2"/>
          <p:cNvSpPr/>
          <p:nvPr/>
        </p:nvSpPr>
        <p:spPr>
          <a:xfrm>
            <a:off x="640080" y="731520"/>
            <a:ext cx="6400800" cy="2194560"/>
          </a:xfrm>
          <a:prstGeom prst="rect">
            <a:avLst/>
          </a:prstGeom>
          <a:noFill/>
          <a:ln/>
        </p:spPr>
        <p:txBody>
          <a:bodyPr wrap="square" rtlCol="0" anchor="ctr"/>
          <a:lstStyle/>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Customer</a:t>
            </a:r>
            <a:endParaRPr lang="en-US" sz="4400" dirty="0"/>
          </a:p>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Churn Analysis</a:t>
            </a:r>
            <a:endParaRPr lang="en-US" sz="4400" dirty="0"/>
          </a:p>
        </p:txBody>
      </p:sp>
      <p:sp>
        <p:nvSpPr>
          <p:cNvPr id="5" name="Shape 3"/>
          <p:cNvSpPr/>
          <p:nvPr/>
        </p:nvSpPr>
        <p:spPr>
          <a:xfrm>
            <a:off x="640080" y="3017520"/>
            <a:ext cx="1097280" cy="54864"/>
          </a:xfrm>
          <a:prstGeom prst="rect">
            <a:avLst/>
          </a:prstGeom>
          <a:solidFill>
            <a:srgbClr val="4A6CF7"/>
          </a:solidFill>
          <a:ln/>
        </p:spPr>
        <p:txBody>
          <a:bodyPr/>
          <a:lstStyle/>
          <a:p>
            <a:endParaRPr lang="en-US" dirty="0"/>
          </a:p>
        </p:txBody>
      </p:sp>
      <p:sp>
        <p:nvSpPr>
          <p:cNvPr id="6" name="Text 4"/>
          <p:cNvSpPr/>
          <p:nvPr/>
        </p:nvSpPr>
        <p:spPr>
          <a:xfrm>
            <a:off x="640080" y="3200400"/>
            <a:ext cx="6400800" cy="457200"/>
          </a:xfrm>
          <a:prstGeom prst="rect">
            <a:avLst/>
          </a:prstGeom>
          <a:noFill/>
          <a:ln/>
        </p:spPr>
        <p:txBody>
          <a:bodyPr wrap="square" rtlCol="0" anchor="ctr"/>
          <a:lstStyle/>
          <a:p>
            <a:pPr marL="0" indent="0">
              <a:buNone/>
            </a:pPr>
            <a:r>
              <a:rPr lang="en-US" sz="1600" i="1" dirty="0">
                <a:solidFill>
                  <a:srgbClr val="9CA3AF"/>
                </a:solidFill>
                <a:latin typeface="Calibri" pitchFamily="34" charset="0"/>
                <a:ea typeface="Calibri" pitchFamily="34" charset="-122"/>
                <a:cs typeface="Calibri" pitchFamily="34" charset="-120"/>
              </a:rPr>
              <a:t>Banka Müşteri Kayıp Analizi ve Tahmin Modeli</a:t>
            </a:r>
            <a:endParaRPr lang="en-US" sz="1600" dirty="0"/>
          </a:p>
        </p:txBody>
      </p:sp>
      <p:sp>
        <p:nvSpPr>
          <p:cNvPr id="7" name="Text 5"/>
          <p:cNvSpPr/>
          <p:nvPr/>
        </p:nvSpPr>
        <p:spPr>
          <a:xfrm>
            <a:off x="640080" y="3931920"/>
            <a:ext cx="7315200" cy="365760"/>
          </a:xfrm>
          <a:prstGeom prst="rect">
            <a:avLst/>
          </a:prstGeom>
          <a:noFill/>
          <a:ln/>
        </p:spPr>
        <p:txBody>
          <a:bodyPr wrap="square" rtlCol="0" anchor="ctr"/>
          <a:lstStyle/>
          <a:p>
            <a:pPr marL="0" indent="0">
              <a:buNone/>
            </a:pPr>
            <a:r>
              <a:rPr lang="en-US" sz="1300" dirty="0">
                <a:solidFill>
                  <a:srgbClr val="9CA3AF"/>
                </a:solidFill>
                <a:latin typeface="Calibri" pitchFamily="34" charset="0"/>
                <a:ea typeface="Calibri" pitchFamily="34" charset="-122"/>
                <a:cs typeface="Calibri" pitchFamily="34" charset="-120"/>
              </a:rPr>
              <a:t>Ceren GÖYA  •  Aleyna DİNÇ  •  Tuğçe YANAR  •  Barış TEKİN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Veri Setinin Genel Yapısı</a:t>
            </a:r>
            <a:endParaRPr lang="en-US" sz="2800" dirty="0"/>
          </a:p>
        </p:txBody>
      </p:sp>
      <p:sp>
        <p:nvSpPr>
          <p:cNvPr id="3" name="Shape 1"/>
          <p:cNvSpPr/>
          <p:nvPr/>
        </p:nvSpPr>
        <p:spPr>
          <a:xfrm>
            <a:off x="640080" y="1097280"/>
            <a:ext cx="237744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640080" y="1097280"/>
            <a:ext cx="2377440" cy="54864"/>
          </a:xfrm>
          <a:prstGeom prst="rect">
            <a:avLst/>
          </a:prstGeom>
          <a:solidFill>
            <a:srgbClr val="4A6CF7"/>
          </a:solidFill>
          <a:ln/>
        </p:spPr>
        <p:txBody>
          <a:bodyPr/>
          <a:lstStyle/>
          <a:p>
            <a:endParaRPr lang="en-US" dirty="0"/>
          </a:p>
        </p:txBody>
      </p:sp>
      <p:sp>
        <p:nvSpPr>
          <p:cNvPr id="5" name="Text 3"/>
          <p:cNvSpPr/>
          <p:nvPr/>
        </p:nvSpPr>
        <p:spPr>
          <a:xfrm>
            <a:off x="640080" y="1280160"/>
            <a:ext cx="2377440" cy="640080"/>
          </a:xfrm>
          <a:prstGeom prst="rect">
            <a:avLst/>
          </a:prstGeom>
          <a:noFill/>
          <a:ln/>
        </p:spPr>
        <p:txBody>
          <a:bodyPr wrap="square" lIns="0" tIns="0" rIns="0" bIns="0" rtlCol="0" anchor="ctr"/>
          <a:lstStyle/>
          <a:p>
            <a:pPr marL="0" indent="0" algn="ctr">
              <a:buNone/>
            </a:pPr>
            <a:r>
              <a:rPr lang="en-US" sz="3600" b="1" dirty="0">
                <a:solidFill>
                  <a:srgbClr val="1A1F3D"/>
                </a:solidFill>
                <a:latin typeface="Calibri" pitchFamily="34" charset="0"/>
                <a:ea typeface="Calibri" pitchFamily="34" charset="-122"/>
                <a:cs typeface="Calibri" pitchFamily="34" charset="-120"/>
              </a:rPr>
              <a:t>10.000</a:t>
            </a:r>
            <a:endParaRPr lang="en-US" sz="3600" dirty="0"/>
          </a:p>
        </p:txBody>
      </p:sp>
      <p:sp>
        <p:nvSpPr>
          <p:cNvPr id="6" name="Text 4"/>
          <p:cNvSpPr/>
          <p:nvPr/>
        </p:nvSpPr>
        <p:spPr>
          <a:xfrm>
            <a:off x="640080" y="1920240"/>
            <a:ext cx="2377440" cy="365760"/>
          </a:xfrm>
          <a:prstGeom prst="rect">
            <a:avLst/>
          </a:prstGeom>
          <a:noFill/>
          <a:ln/>
        </p:spPr>
        <p:txBody>
          <a:bodyPr wrap="square" lIns="0" tIns="0" rIns="0" bIns="0" rtlCol="0" anchor="t"/>
          <a:lstStyle/>
          <a:p>
            <a:pPr marL="0" indent="0" algn="ctr">
              <a:buNone/>
            </a:pPr>
            <a:r>
              <a:rPr lang="en-US" sz="1300" dirty="0">
                <a:solidFill>
                  <a:srgbClr val="6B7280"/>
                </a:solidFill>
                <a:latin typeface="Calibri" pitchFamily="34" charset="0"/>
                <a:ea typeface="Calibri" pitchFamily="34" charset="-122"/>
                <a:cs typeface="Calibri" pitchFamily="34" charset="-120"/>
              </a:rPr>
              <a:t>Gözlem Sayısı</a:t>
            </a:r>
            <a:endParaRPr lang="en-US" sz="1300" dirty="0"/>
          </a:p>
        </p:txBody>
      </p:sp>
      <p:sp>
        <p:nvSpPr>
          <p:cNvPr id="7" name="Shape 5"/>
          <p:cNvSpPr/>
          <p:nvPr/>
        </p:nvSpPr>
        <p:spPr>
          <a:xfrm>
            <a:off x="3383280" y="1097280"/>
            <a:ext cx="237744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8" name="Shape 6"/>
          <p:cNvSpPr/>
          <p:nvPr/>
        </p:nvSpPr>
        <p:spPr>
          <a:xfrm>
            <a:off x="3383280" y="1097280"/>
            <a:ext cx="2377440" cy="54864"/>
          </a:xfrm>
          <a:prstGeom prst="rect">
            <a:avLst/>
          </a:prstGeom>
          <a:solidFill>
            <a:srgbClr val="0EA5A0"/>
          </a:solidFill>
          <a:ln/>
        </p:spPr>
        <p:txBody>
          <a:bodyPr/>
          <a:lstStyle/>
          <a:p>
            <a:endParaRPr lang="en-US" dirty="0"/>
          </a:p>
        </p:txBody>
      </p:sp>
      <p:sp>
        <p:nvSpPr>
          <p:cNvPr id="9" name="Text 7"/>
          <p:cNvSpPr/>
          <p:nvPr/>
        </p:nvSpPr>
        <p:spPr>
          <a:xfrm>
            <a:off x="3383280" y="1280160"/>
            <a:ext cx="2377440" cy="640080"/>
          </a:xfrm>
          <a:prstGeom prst="rect">
            <a:avLst/>
          </a:prstGeom>
          <a:noFill/>
          <a:ln/>
        </p:spPr>
        <p:txBody>
          <a:bodyPr wrap="square" lIns="0" tIns="0" rIns="0" bIns="0" rtlCol="0" anchor="ctr"/>
          <a:lstStyle/>
          <a:p>
            <a:pPr marL="0" indent="0" algn="ctr">
              <a:buNone/>
            </a:pPr>
            <a:r>
              <a:rPr lang="en-US" sz="3600" b="1" dirty="0">
                <a:solidFill>
                  <a:srgbClr val="1A1F3D"/>
                </a:solidFill>
                <a:latin typeface="Calibri" pitchFamily="34" charset="0"/>
                <a:ea typeface="Calibri" pitchFamily="34" charset="-122"/>
                <a:cs typeface="Calibri" pitchFamily="34" charset="-120"/>
              </a:rPr>
              <a:t>12</a:t>
            </a:r>
            <a:endParaRPr lang="en-US" sz="3600" dirty="0"/>
          </a:p>
        </p:txBody>
      </p:sp>
      <p:sp>
        <p:nvSpPr>
          <p:cNvPr id="10" name="Text 8"/>
          <p:cNvSpPr/>
          <p:nvPr/>
        </p:nvSpPr>
        <p:spPr>
          <a:xfrm>
            <a:off x="3383280" y="1920240"/>
            <a:ext cx="2377440" cy="365760"/>
          </a:xfrm>
          <a:prstGeom prst="rect">
            <a:avLst/>
          </a:prstGeom>
          <a:noFill/>
          <a:ln/>
        </p:spPr>
        <p:txBody>
          <a:bodyPr wrap="square" lIns="0" tIns="0" rIns="0" bIns="0" rtlCol="0" anchor="t"/>
          <a:lstStyle/>
          <a:p>
            <a:pPr marL="0" indent="0" algn="ctr">
              <a:buNone/>
            </a:pPr>
            <a:r>
              <a:rPr lang="en-US" sz="1300" dirty="0">
                <a:solidFill>
                  <a:srgbClr val="6B7280"/>
                </a:solidFill>
                <a:latin typeface="Calibri" pitchFamily="34" charset="0"/>
                <a:ea typeface="Calibri" pitchFamily="34" charset="-122"/>
                <a:cs typeface="Calibri" pitchFamily="34" charset="-120"/>
              </a:rPr>
              <a:t>Değişken Sayısı</a:t>
            </a:r>
            <a:endParaRPr lang="en-US" sz="1300" dirty="0"/>
          </a:p>
        </p:txBody>
      </p:sp>
      <p:sp>
        <p:nvSpPr>
          <p:cNvPr id="11" name="Shape 9"/>
          <p:cNvSpPr/>
          <p:nvPr/>
        </p:nvSpPr>
        <p:spPr>
          <a:xfrm>
            <a:off x="6126480" y="1097280"/>
            <a:ext cx="237744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2" name="Shape 10"/>
          <p:cNvSpPr/>
          <p:nvPr/>
        </p:nvSpPr>
        <p:spPr>
          <a:xfrm>
            <a:off x="6126480" y="1097280"/>
            <a:ext cx="2377440" cy="54864"/>
          </a:xfrm>
          <a:prstGeom prst="rect">
            <a:avLst/>
          </a:prstGeom>
          <a:solidFill>
            <a:srgbClr val="E8594F"/>
          </a:solidFill>
          <a:ln/>
        </p:spPr>
        <p:txBody>
          <a:bodyPr/>
          <a:lstStyle/>
          <a:p>
            <a:endParaRPr lang="en-US" dirty="0"/>
          </a:p>
        </p:txBody>
      </p:sp>
      <p:sp>
        <p:nvSpPr>
          <p:cNvPr id="13" name="Text 11"/>
          <p:cNvSpPr/>
          <p:nvPr/>
        </p:nvSpPr>
        <p:spPr>
          <a:xfrm>
            <a:off x="6126480" y="1280160"/>
            <a:ext cx="2377440" cy="640080"/>
          </a:xfrm>
          <a:prstGeom prst="rect">
            <a:avLst/>
          </a:prstGeom>
          <a:noFill/>
          <a:ln/>
        </p:spPr>
        <p:txBody>
          <a:bodyPr wrap="square" lIns="0" tIns="0" rIns="0" bIns="0" rtlCol="0" anchor="ctr"/>
          <a:lstStyle/>
          <a:p>
            <a:pPr marL="0" indent="0" algn="ctr">
              <a:buNone/>
            </a:pPr>
            <a:r>
              <a:rPr lang="en-US" sz="3600" b="1" dirty="0">
                <a:solidFill>
                  <a:srgbClr val="1A1F3D"/>
                </a:solidFill>
                <a:latin typeface="Calibri" pitchFamily="34" charset="0"/>
                <a:ea typeface="Calibri" pitchFamily="34" charset="-122"/>
                <a:cs typeface="Calibri" pitchFamily="34" charset="-120"/>
              </a:rPr>
              <a:t>Churn</a:t>
            </a:r>
            <a:endParaRPr lang="en-US" sz="3600" dirty="0"/>
          </a:p>
        </p:txBody>
      </p:sp>
      <p:sp>
        <p:nvSpPr>
          <p:cNvPr id="14" name="Text 12"/>
          <p:cNvSpPr/>
          <p:nvPr/>
        </p:nvSpPr>
        <p:spPr>
          <a:xfrm>
            <a:off x="6126480" y="1920240"/>
            <a:ext cx="2377440" cy="365760"/>
          </a:xfrm>
          <a:prstGeom prst="rect">
            <a:avLst/>
          </a:prstGeom>
          <a:noFill/>
          <a:ln/>
        </p:spPr>
        <p:txBody>
          <a:bodyPr wrap="square" lIns="0" tIns="0" rIns="0" bIns="0" rtlCol="0" anchor="t"/>
          <a:lstStyle/>
          <a:p>
            <a:pPr marL="0" indent="0" algn="ctr">
              <a:buNone/>
            </a:pPr>
            <a:r>
              <a:rPr lang="en-US" sz="1300" dirty="0">
                <a:solidFill>
                  <a:srgbClr val="6B7280"/>
                </a:solidFill>
                <a:latin typeface="Calibri" pitchFamily="34" charset="0"/>
                <a:ea typeface="Calibri" pitchFamily="34" charset="-122"/>
                <a:cs typeface="Calibri" pitchFamily="34" charset="-120"/>
              </a:rPr>
              <a:t>Hedef Değişken</a:t>
            </a:r>
            <a:endParaRPr lang="en-US" sz="1300" dirty="0"/>
          </a:p>
        </p:txBody>
      </p:sp>
      <p:sp>
        <p:nvSpPr>
          <p:cNvPr id="15" name="Shape 13"/>
          <p:cNvSpPr/>
          <p:nvPr/>
        </p:nvSpPr>
        <p:spPr>
          <a:xfrm>
            <a:off x="640080" y="2743200"/>
            <a:ext cx="7863840" cy="18288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6" name="Shape 14"/>
          <p:cNvSpPr/>
          <p:nvPr/>
        </p:nvSpPr>
        <p:spPr>
          <a:xfrm>
            <a:off x="640080" y="2743200"/>
            <a:ext cx="54864" cy="1828800"/>
          </a:xfrm>
          <a:prstGeom prst="rect">
            <a:avLst/>
          </a:prstGeom>
          <a:solidFill>
            <a:srgbClr val="4A6CF7"/>
          </a:solidFill>
          <a:ln/>
        </p:spPr>
        <p:txBody>
          <a:bodyPr/>
          <a:lstStyle/>
          <a:p>
            <a:endParaRPr lang="en-US" dirty="0"/>
          </a:p>
        </p:txBody>
      </p:sp>
      <p:sp>
        <p:nvSpPr>
          <p:cNvPr id="17" name="Text 15"/>
          <p:cNvSpPr/>
          <p:nvPr/>
        </p:nvSpPr>
        <p:spPr>
          <a:xfrm>
            <a:off x="914400" y="2880360"/>
            <a:ext cx="7406640" cy="1554480"/>
          </a:xfrm>
          <a:prstGeom prst="rect">
            <a:avLst/>
          </a:prstGeom>
          <a:noFill/>
          <a:ln/>
        </p:spPr>
        <p:txBody>
          <a:bodyPr wrap="square" rtlCol="0" anchor="t"/>
          <a:lstStyle/>
          <a:p>
            <a:pPr marL="0" indent="0">
              <a:buNone/>
            </a:pPr>
            <a:r>
              <a:rPr lang="en-US" sz="1500" b="1" dirty="0">
                <a:solidFill>
                  <a:srgbClr val="1A1F3D"/>
                </a:solidFill>
                <a:latin typeface="Calibri" pitchFamily="34" charset="0"/>
                <a:ea typeface="Calibri" pitchFamily="34" charset="-122"/>
                <a:cs typeface="Calibri" pitchFamily="34" charset="-120"/>
              </a:rPr>
              <a:t>Veri Seti Özellikleri</a:t>
            </a:r>
            <a:endParaRPr lang="en-US" sz="1500" dirty="0"/>
          </a:p>
          <a:p>
            <a:pPr marL="0" indent="0">
              <a:buNone/>
            </a:pPr>
            <a:endParaRPr lang="en-US" sz="1500" dirty="0"/>
          </a:p>
          <a:p>
            <a:pPr marL="0" indent="0">
              <a:buNone/>
            </a:pPr>
            <a:r>
              <a:rPr lang="en-US" sz="1200" dirty="0">
                <a:solidFill>
                  <a:srgbClr val="4B5563"/>
                </a:solidFill>
                <a:latin typeface="Calibri" pitchFamily="34" charset="0"/>
                <a:ea typeface="Calibri" pitchFamily="34" charset="-122"/>
                <a:cs typeface="Calibri" pitchFamily="34" charset="-120"/>
              </a:rPr>
              <a:t>Bu çalışmada banka müşterilerine ait 10.000 gözlem ve 12 değişkenden oluşan bir veri seti kullanılmıştır.</a:t>
            </a:r>
            <a:endParaRPr lang="en-US" sz="1500" dirty="0"/>
          </a:p>
          <a:p>
            <a:pPr marL="0" indent="0">
              <a:buNone/>
            </a:pPr>
            <a:r>
              <a:rPr lang="en-US" sz="1200" dirty="0">
                <a:solidFill>
                  <a:srgbClr val="4B5563"/>
                </a:solidFill>
                <a:latin typeface="Calibri" pitchFamily="34" charset="0"/>
                <a:ea typeface="Calibri" pitchFamily="34" charset="-122"/>
                <a:cs typeface="Calibri" pitchFamily="34" charset="-120"/>
              </a:rPr>
              <a:t>Veri seti</a:t>
            </a:r>
            <a:r>
              <a:rPr lang="tr-TR" sz="1200" dirty="0">
                <a:solidFill>
                  <a:srgbClr val="4B5563"/>
                </a:solidFill>
                <a:latin typeface="Calibri" pitchFamily="34" charset="0"/>
                <a:ea typeface="Calibri" pitchFamily="34" charset="-122"/>
                <a:cs typeface="Calibri" pitchFamily="34" charset="-120"/>
              </a:rPr>
              <a:t>, müşterilerin</a:t>
            </a:r>
            <a:r>
              <a:rPr lang="en-US" sz="1200" dirty="0">
                <a:solidFill>
                  <a:srgbClr val="4B5563"/>
                </a:solidFill>
                <a:latin typeface="Calibri" pitchFamily="34" charset="0"/>
                <a:ea typeface="Calibri" pitchFamily="34" charset="-122"/>
                <a:cs typeface="Calibri" pitchFamily="34" charset="-120"/>
              </a:rPr>
              <a:t> demografik, finansal ve davranışsal özellikleri</a:t>
            </a:r>
            <a:r>
              <a:rPr lang="tr-TR" sz="1200" dirty="0">
                <a:solidFill>
                  <a:srgbClr val="4B5563"/>
                </a:solidFill>
                <a:latin typeface="Calibri" pitchFamily="34" charset="0"/>
                <a:ea typeface="Calibri" pitchFamily="34" charset="-122"/>
                <a:cs typeface="Calibri" pitchFamily="34" charset="-120"/>
              </a:rPr>
              <a:t>ni </a:t>
            </a:r>
            <a:r>
              <a:rPr lang="en-US" sz="1200" dirty="0">
                <a:solidFill>
                  <a:srgbClr val="4B5563"/>
                </a:solidFill>
                <a:latin typeface="Calibri" pitchFamily="34" charset="0"/>
                <a:ea typeface="Calibri" pitchFamily="34" charset="-122"/>
                <a:cs typeface="Calibri" pitchFamily="34" charset="-120"/>
              </a:rPr>
              <a:t>içermektedir.</a:t>
            </a:r>
            <a:endParaRPr lang="en-US" sz="1500" dirty="0"/>
          </a:p>
          <a:p>
            <a:pPr marL="0" indent="0">
              <a:buNone/>
            </a:pPr>
            <a:r>
              <a:rPr lang="tr-TR" sz="1200" dirty="0">
                <a:solidFill>
                  <a:srgbClr val="4B5563"/>
                </a:solidFill>
                <a:latin typeface="Calibri" pitchFamily="34" charset="0"/>
                <a:ea typeface="Calibri" pitchFamily="34" charset="-122"/>
                <a:cs typeface="Calibri" pitchFamily="34" charset="-120"/>
              </a:rPr>
              <a:t>Çalışmanın h</a:t>
            </a:r>
            <a:r>
              <a:rPr lang="en-US" sz="1200" dirty="0">
                <a:solidFill>
                  <a:srgbClr val="4B5563"/>
                </a:solidFill>
                <a:latin typeface="Calibri" pitchFamily="34" charset="0"/>
                <a:ea typeface="Calibri" pitchFamily="34" charset="-122"/>
                <a:cs typeface="Calibri" pitchFamily="34" charset="-120"/>
              </a:rPr>
              <a:t>edef değişken</a:t>
            </a:r>
            <a:r>
              <a:rPr lang="tr-TR" sz="1200" dirty="0">
                <a:solidFill>
                  <a:srgbClr val="4B5563"/>
                </a:solidFill>
                <a:latin typeface="Calibri" pitchFamily="34" charset="0"/>
                <a:ea typeface="Calibri" pitchFamily="34" charset="-122"/>
                <a:cs typeface="Calibri" pitchFamily="34" charset="-120"/>
              </a:rPr>
              <a:t>i</a:t>
            </a:r>
            <a:r>
              <a:rPr lang="en-US" sz="1200" dirty="0">
                <a:solidFill>
                  <a:srgbClr val="4B5563"/>
                </a:solidFill>
                <a:latin typeface="Calibri" pitchFamily="34" charset="0"/>
                <a:ea typeface="Calibri" pitchFamily="34" charset="-122"/>
                <a:cs typeface="Calibri" pitchFamily="34" charset="-120"/>
              </a:rPr>
              <a:t> olan churn</a:t>
            </a:r>
            <a:r>
              <a:rPr lang="tr-TR" sz="1200" dirty="0">
                <a:solidFill>
                  <a:srgbClr val="4B5563"/>
                </a:solidFill>
                <a:latin typeface="Calibri" pitchFamily="34" charset="0"/>
                <a:ea typeface="Calibri" pitchFamily="34" charset="-122"/>
                <a:cs typeface="Calibri" pitchFamily="34" charset="-120"/>
              </a:rPr>
              <a:t>,</a:t>
            </a:r>
            <a:r>
              <a:rPr lang="en-US" sz="1200" dirty="0">
                <a:solidFill>
                  <a:srgbClr val="4B5563"/>
                </a:solidFill>
                <a:latin typeface="Calibri" pitchFamily="34" charset="0"/>
                <a:ea typeface="Calibri" pitchFamily="34" charset="-122"/>
                <a:cs typeface="Calibri" pitchFamily="34" charset="-120"/>
              </a:rPr>
              <a:t> müşterinin bankadan ayrılıp ayrılmadığını göstermektedir.</a:t>
            </a:r>
            <a:endParaRPr lang="en-US" sz="1500" dirty="0"/>
          </a:p>
          <a:p>
            <a:pPr marL="0" indent="0">
              <a:buNone/>
            </a:pPr>
            <a:r>
              <a:rPr lang="en-US" sz="1200" b="1" dirty="0">
                <a:solidFill>
                  <a:srgbClr val="4B5563"/>
                </a:solidFill>
                <a:latin typeface="Calibri" pitchFamily="34" charset="0"/>
                <a:ea typeface="Calibri" pitchFamily="34" charset="-122"/>
                <a:cs typeface="Calibri" pitchFamily="34" charset="-120"/>
              </a:rPr>
              <a:t>Veri setinde eksik veya tekrar eden kayıt bulunmamaktadır.</a:t>
            </a:r>
            <a:endParaRPr lang="en-US" sz="15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Veri Setinin Özellikleri</a:t>
            </a:r>
            <a:endParaRPr lang="en-US" sz="2800" dirty="0"/>
          </a:p>
        </p:txBody>
      </p:sp>
      <p:pic>
        <p:nvPicPr>
          <p:cNvPr id="3" name="Image 0" descr="/home/claude/pptx_images/image3.png"/>
          <p:cNvPicPr>
            <a:picLocks noChangeAspect="1"/>
          </p:cNvPicPr>
          <p:nvPr/>
        </p:nvPicPr>
        <p:blipFill>
          <a:blip r:embed="rId3"/>
          <a:srcRect/>
          <a:stretch/>
        </p:blipFill>
        <p:spPr>
          <a:xfrm>
            <a:off x="457200" y="914400"/>
            <a:ext cx="8229600" cy="3840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Veri Setinin İstatistiksel Değerlendirmesi</a:t>
            </a:r>
            <a:endParaRPr lang="en-US" sz="2800" dirty="0"/>
          </a:p>
        </p:txBody>
      </p:sp>
      <p:sp>
        <p:nvSpPr>
          <p:cNvPr id="3" name="Shape 1"/>
          <p:cNvSpPr/>
          <p:nvPr/>
        </p:nvSpPr>
        <p:spPr>
          <a:xfrm>
            <a:off x="457200" y="1005840"/>
            <a:ext cx="3440811" cy="3657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457200" y="1005840"/>
            <a:ext cx="54864" cy="3657600"/>
          </a:xfrm>
          <a:prstGeom prst="rect">
            <a:avLst/>
          </a:prstGeom>
          <a:solidFill>
            <a:srgbClr val="4A6CF7"/>
          </a:solidFill>
          <a:ln/>
        </p:spPr>
        <p:txBody>
          <a:bodyPr/>
          <a:lstStyle/>
          <a:p>
            <a:endParaRPr lang="en-US" dirty="0"/>
          </a:p>
        </p:txBody>
      </p:sp>
      <p:sp>
        <p:nvSpPr>
          <p:cNvPr id="5" name="Text 3"/>
          <p:cNvSpPr/>
          <p:nvPr/>
        </p:nvSpPr>
        <p:spPr>
          <a:xfrm>
            <a:off x="548640" y="1143000"/>
            <a:ext cx="3349371" cy="2733675"/>
          </a:xfrm>
          <a:prstGeom prst="rect">
            <a:avLst/>
          </a:prstGeom>
          <a:noFill/>
          <a:ln/>
        </p:spPr>
        <p:txBody>
          <a:bodyPr wrap="square" rtlCol="0" anchor="t"/>
          <a:lstStyle/>
          <a:p>
            <a:pPr marL="0" indent="0">
              <a:buNone/>
            </a:pPr>
            <a:endParaRPr lang="tr-TR" sz="1200" dirty="0">
              <a:solidFill>
                <a:srgbClr val="4B5563"/>
              </a:solidFill>
              <a:latin typeface="Calibri" pitchFamily="34" charset="0"/>
              <a:ea typeface="Calibri" pitchFamily="34" charset="-122"/>
              <a:cs typeface="Calibri" pitchFamily="34" charset="-120"/>
            </a:endParaRPr>
          </a:p>
          <a:p>
            <a:pPr marL="0" indent="0">
              <a:buNone/>
            </a:pPr>
            <a:r>
              <a:rPr lang="en-US" sz="1200" dirty="0">
                <a:solidFill>
                  <a:srgbClr val="4B5563"/>
                </a:solidFill>
                <a:latin typeface="Calibri" pitchFamily="34" charset="0"/>
                <a:ea typeface="Calibri" pitchFamily="34" charset="-122"/>
                <a:cs typeface="Calibri" pitchFamily="34" charset="-120"/>
              </a:rPr>
              <a:t>Müşteri kitlesinin yaş, </a:t>
            </a:r>
            <a:r>
              <a:rPr lang="tr-TR" sz="1200" dirty="0">
                <a:solidFill>
                  <a:srgbClr val="4B5563"/>
                </a:solidFill>
                <a:latin typeface="Calibri" pitchFamily="34" charset="0"/>
                <a:ea typeface="Calibri" pitchFamily="34" charset="-122"/>
                <a:cs typeface="Calibri" pitchFamily="34" charset="-120"/>
              </a:rPr>
              <a:t>tahmini gelir</a:t>
            </a:r>
            <a:r>
              <a:rPr lang="en-US" sz="1200" dirty="0">
                <a:solidFill>
                  <a:srgbClr val="4B5563"/>
                </a:solidFill>
                <a:latin typeface="Calibri" pitchFamily="34" charset="0"/>
                <a:ea typeface="Calibri" pitchFamily="34" charset="-122"/>
                <a:cs typeface="Calibri" pitchFamily="34" charset="-120"/>
              </a:rPr>
              <a:t> ve </a:t>
            </a:r>
            <a:r>
              <a:rPr lang="tr-TR" sz="1200" dirty="0">
                <a:solidFill>
                  <a:srgbClr val="4B5563"/>
                </a:solidFill>
                <a:latin typeface="Calibri" pitchFamily="34" charset="0"/>
                <a:ea typeface="Calibri" pitchFamily="34" charset="-122"/>
                <a:cs typeface="Calibri" pitchFamily="34" charset="-120"/>
              </a:rPr>
              <a:t>bakiye</a:t>
            </a:r>
            <a:r>
              <a:rPr lang="en-US" sz="1200" dirty="0">
                <a:solidFill>
                  <a:srgbClr val="4B5563"/>
                </a:solidFill>
                <a:latin typeface="Calibri" pitchFamily="34" charset="0"/>
                <a:ea typeface="Calibri" pitchFamily="34" charset="-122"/>
                <a:cs typeface="Calibri" pitchFamily="34" charset="-120"/>
              </a:rPr>
              <a:t> </a:t>
            </a:r>
            <a:r>
              <a:rPr lang="tr-TR" sz="1200" dirty="0">
                <a:solidFill>
                  <a:srgbClr val="4B5563"/>
                </a:solidFill>
                <a:latin typeface="Calibri" pitchFamily="34" charset="0"/>
                <a:ea typeface="Calibri" pitchFamily="34" charset="-122"/>
                <a:cs typeface="Calibri" pitchFamily="34" charset="-120"/>
              </a:rPr>
              <a:t>verileri incelendiğinde,</a:t>
            </a:r>
            <a:r>
              <a:rPr lang="en-US" sz="1200" dirty="0">
                <a:solidFill>
                  <a:srgbClr val="4B5563"/>
                </a:solidFill>
                <a:latin typeface="Calibri" pitchFamily="34" charset="0"/>
                <a:ea typeface="Calibri" pitchFamily="34" charset="-122"/>
                <a:cs typeface="Calibri" pitchFamily="34" charset="-120"/>
              </a:rPr>
              <a:t> </a:t>
            </a:r>
            <a:r>
              <a:rPr lang="tr-TR" sz="1200" dirty="0">
                <a:solidFill>
                  <a:srgbClr val="4B5563"/>
                </a:solidFill>
                <a:latin typeface="Calibri" pitchFamily="34" charset="0"/>
                <a:ea typeface="Calibri" pitchFamily="34" charset="-122"/>
                <a:cs typeface="Calibri" pitchFamily="34" charset="-120"/>
              </a:rPr>
              <a:t>kitlenin</a:t>
            </a:r>
            <a:r>
              <a:rPr lang="en-US" sz="1200" dirty="0">
                <a:solidFill>
                  <a:srgbClr val="4B5563"/>
                </a:solidFill>
                <a:latin typeface="Calibri" pitchFamily="34" charset="0"/>
                <a:ea typeface="Calibri" pitchFamily="34" charset="-122"/>
                <a:cs typeface="Calibri" pitchFamily="34" charset="-120"/>
              </a:rPr>
              <a:t> oldukça farklı profillerden oluştuğu görülmektedir.</a:t>
            </a:r>
            <a:r>
              <a:rPr lang="tr-TR" sz="1200" dirty="0">
                <a:solidFill>
                  <a:srgbClr val="4B5563"/>
                </a:solidFill>
                <a:latin typeface="Calibri" pitchFamily="34" charset="0"/>
                <a:ea typeface="Calibri" pitchFamily="34" charset="-122"/>
                <a:cs typeface="Calibri" pitchFamily="34" charset="-120"/>
              </a:rPr>
              <a:t> </a:t>
            </a:r>
            <a:endParaRPr lang="en-US" sz="1200" dirty="0"/>
          </a:p>
          <a:p>
            <a:pPr marL="0" indent="0">
              <a:buNone/>
            </a:pPr>
            <a:endParaRPr lang="en-US" sz="1200" dirty="0"/>
          </a:p>
          <a:p>
            <a:pPr marL="0" indent="0">
              <a:buNone/>
            </a:pPr>
            <a:r>
              <a:rPr lang="tr-TR" sz="1200" dirty="0">
                <a:solidFill>
                  <a:srgbClr val="4B5563"/>
                </a:solidFill>
                <a:latin typeface="Calibri" pitchFamily="34" charset="0"/>
                <a:ea typeface="Calibri" pitchFamily="34" charset="-122"/>
                <a:cs typeface="Calibri" pitchFamily="34" charset="-120"/>
              </a:rPr>
              <a:t>H</a:t>
            </a:r>
            <a:r>
              <a:rPr lang="en-US" sz="1200" dirty="0">
                <a:solidFill>
                  <a:srgbClr val="4B5563"/>
                </a:solidFill>
                <a:latin typeface="Calibri" pitchFamily="34" charset="0"/>
                <a:ea typeface="Calibri" pitchFamily="34" charset="-122"/>
                <a:cs typeface="Calibri" pitchFamily="34" charset="-120"/>
              </a:rPr>
              <a:t>esap bakiyesi ve </a:t>
            </a:r>
            <a:r>
              <a:rPr lang="tr-TR" sz="1200" dirty="0">
                <a:solidFill>
                  <a:srgbClr val="4B5563"/>
                </a:solidFill>
                <a:latin typeface="Calibri" pitchFamily="34" charset="0"/>
                <a:ea typeface="Calibri" pitchFamily="34" charset="-122"/>
                <a:cs typeface="Calibri" pitchFamily="34" charset="-120"/>
              </a:rPr>
              <a:t>gelir beklentisi</a:t>
            </a:r>
            <a:r>
              <a:rPr lang="en-US" sz="1200" dirty="0">
                <a:solidFill>
                  <a:srgbClr val="4B5563"/>
                </a:solidFill>
                <a:latin typeface="Calibri" pitchFamily="34" charset="0"/>
                <a:ea typeface="Calibri" pitchFamily="34" charset="-122"/>
                <a:cs typeface="Calibri" pitchFamily="34" charset="-120"/>
              </a:rPr>
              <a:t> değişkenlerinde geniş değer aralıkları bulunması, müşterilerin bankayla kurduğu finansal ilişkinin aynı düzeyde olmadığını göstermektedir.</a:t>
            </a:r>
            <a:endParaRPr lang="en-US" sz="1200" dirty="0"/>
          </a:p>
          <a:p>
            <a:pPr marL="0" indent="0">
              <a:buNone/>
            </a:pPr>
            <a:endParaRPr lang="en-US" sz="1200" dirty="0"/>
          </a:p>
          <a:p>
            <a:pPr marL="0" indent="0">
              <a:buNone/>
            </a:pPr>
            <a:r>
              <a:rPr lang="tr-TR" sz="1200" b="1" dirty="0">
                <a:solidFill>
                  <a:srgbClr val="4B5563"/>
                </a:solidFill>
                <a:latin typeface="Calibri" pitchFamily="34" charset="0"/>
                <a:ea typeface="Calibri" pitchFamily="34" charset="-122"/>
                <a:cs typeface="Calibri" pitchFamily="34" charset="-120"/>
              </a:rPr>
              <a:t>V</a:t>
            </a:r>
            <a:r>
              <a:rPr lang="en-US" sz="1200" b="1" dirty="0">
                <a:solidFill>
                  <a:srgbClr val="4B5563"/>
                </a:solidFill>
                <a:latin typeface="Calibri" pitchFamily="34" charset="0"/>
                <a:ea typeface="Calibri" pitchFamily="34" charset="-122"/>
                <a:cs typeface="Calibri" pitchFamily="34" charset="-120"/>
              </a:rPr>
              <a:t>eri setinde müşterilerin yaklaşık %20'sinin bankadan ayrılmış olması, müşteri kaybının analiz edilmesi gereken, önemli bir iş problemi olduğunu ortaya koymaktadır.</a:t>
            </a:r>
            <a:endParaRPr lang="en-US" sz="1200" b="1" dirty="0"/>
          </a:p>
        </p:txBody>
      </p:sp>
      <p:pic>
        <p:nvPicPr>
          <p:cNvPr id="6" name="Image 0" descr="/home/claude/pptx_images/image4.png"/>
          <p:cNvPicPr>
            <a:picLocks noChangeAspect="1"/>
          </p:cNvPicPr>
          <p:nvPr/>
        </p:nvPicPr>
        <p:blipFill>
          <a:blip r:embed="rId3"/>
          <a:srcRect/>
          <a:stretch/>
        </p:blipFill>
        <p:spPr>
          <a:xfrm>
            <a:off x="3934587" y="1005840"/>
            <a:ext cx="4935093" cy="3657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0618" y="158231"/>
            <a:ext cx="8037622" cy="765694"/>
          </a:xfrm>
          <a:prstGeom prst="rect">
            <a:avLst/>
          </a:prstGeom>
          <a:noFill/>
          <a:ln/>
        </p:spPr>
        <p:txBody>
          <a:bodyPr wrap="square" lIns="0" tIns="0" rIns="0" bIns="0" rtlCol="0" anchor="ctr"/>
          <a:lstStyle/>
          <a:p>
            <a:pPr marL="0" indent="0">
              <a:buNone/>
            </a:pPr>
            <a:r>
              <a:rPr lang="tr-TR" sz="2800" b="1" dirty="0">
                <a:solidFill>
                  <a:srgbClr val="1A1F3D"/>
                </a:solidFill>
                <a:latin typeface="Calibri" pitchFamily="34" charset="0"/>
                <a:cs typeface="Calibri" pitchFamily="34" charset="-120"/>
              </a:rPr>
              <a:t>Sayısal Değişken Dağılımları </a:t>
            </a:r>
          </a:p>
          <a:p>
            <a:pPr marL="0" indent="0">
              <a:buNone/>
            </a:pPr>
            <a:r>
              <a:rPr lang="tr-TR" sz="1400" b="1" i="1" dirty="0">
                <a:solidFill>
                  <a:srgbClr val="1A1F3D"/>
                </a:solidFill>
                <a:latin typeface="Calibri" pitchFamily="34" charset="0"/>
                <a:cs typeface="Calibri" pitchFamily="34" charset="-120"/>
              </a:rPr>
              <a:t>(credit_score, age, tenure, balance, estimated_salary)</a:t>
            </a:r>
            <a:endParaRPr lang="en-US" sz="1400" i="1" dirty="0"/>
          </a:p>
        </p:txBody>
      </p:sp>
      <p:sp>
        <p:nvSpPr>
          <p:cNvPr id="6" name="Text 3"/>
          <p:cNvSpPr/>
          <p:nvPr/>
        </p:nvSpPr>
        <p:spPr>
          <a:xfrm>
            <a:off x="6172200" y="1051560"/>
            <a:ext cx="2560320" cy="2926080"/>
          </a:xfrm>
          <a:prstGeom prst="rect">
            <a:avLst/>
          </a:prstGeom>
          <a:noFill/>
          <a:ln/>
        </p:spPr>
        <p:txBody>
          <a:bodyPr wrap="square" rtlCol="0" anchor="t"/>
          <a:lstStyle/>
          <a:p>
            <a:pPr marL="0" indent="0">
              <a:buNone/>
            </a:pPr>
            <a:endParaRPr lang="en-US" sz="1400" dirty="0"/>
          </a:p>
        </p:txBody>
      </p:sp>
      <p:sp>
        <p:nvSpPr>
          <p:cNvPr id="7" name="Text 4"/>
          <p:cNvSpPr/>
          <p:nvPr/>
        </p:nvSpPr>
        <p:spPr>
          <a:xfrm>
            <a:off x="457200" y="4297680"/>
            <a:ext cx="5029200" cy="365760"/>
          </a:xfrm>
          <a:prstGeom prst="rect">
            <a:avLst/>
          </a:prstGeom>
          <a:noFill/>
          <a:ln/>
        </p:spPr>
        <p:txBody>
          <a:bodyPr wrap="square" rtlCol="0" anchor="ctr"/>
          <a:lstStyle/>
          <a:p>
            <a:pPr marL="0" indent="0">
              <a:buNone/>
            </a:pPr>
            <a:endParaRPr lang="en-US" sz="1100" dirty="0"/>
          </a:p>
        </p:txBody>
      </p:sp>
      <p:pic>
        <p:nvPicPr>
          <p:cNvPr id="1026" name="Picture 2">
            <a:extLst>
              <a:ext uri="{FF2B5EF4-FFF2-40B4-BE49-F238E27FC236}">
                <a16:creationId xmlns:a16="http://schemas.microsoft.com/office/drawing/2014/main" id="{D6F056A7-1BCE-E39E-E99C-8409610E1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 y="1051560"/>
            <a:ext cx="8479766" cy="37452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44BB6DA-2B04-4776-81C2-262354FCD463}"/>
              </a:ext>
            </a:extLst>
          </p:cNvPr>
          <p:cNvSpPr/>
          <p:nvPr/>
        </p:nvSpPr>
        <p:spPr>
          <a:xfrm>
            <a:off x="740618" y="158231"/>
            <a:ext cx="8037622" cy="765694"/>
          </a:xfrm>
          <a:prstGeom prst="rect">
            <a:avLst/>
          </a:prstGeom>
          <a:noFill/>
          <a:ln/>
        </p:spPr>
        <p:txBody>
          <a:bodyPr wrap="square" lIns="0" tIns="0" rIns="0" bIns="0" rtlCol="0" anchor="ctr"/>
          <a:lstStyle/>
          <a:p>
            <a:pPr marL="0" indent="0">
              <a:buNone/>
            </a:pPr>
            <a:r>
              <a:rPr lang="tr-TR" sz="2800" b="1" dirty="0">
                <a:solidFill>
                  <a:srgbClr val="1A1F3D"/>
                </a:solidFill>
                <a:latin typeface="Calibri" pitchFamily="34" charset="0"/>
                <a:cs typeface="Calibri" pitchFamily="34" charset="-120"/>
              </a:rPr>
              <a:t>Kategorik Değişken Dağılımları </a:t>
            </a:r>
          </a:p>
          <a:p>
            <a:pPr marL="0" indent="0">
              <a:buNone/>
            </a:pPr>
            <a:r>
              <a:rPr lang="tr-TR" sz="1400" b="1" i="1" dirty="0">
                <a:solidFill>
                  <a:srgbClr val="1A1F3D"/>
                </a:solidFill>
                <a:latin typeface="Calibri" pitchFamily="34" charset="0"/>
                <a:cs typeface="Calibri" pitchFamily="34" charset="-120"/>
              </a:rPr>
              <a:t>(country, credit_card, active_number, churn, product_number, gender)</a:t>
            </a:r>
            <a:endParaRPr lang="en-US" sz="1400" i="1" dirty="0"/>
          </a:p>
        </p:txBody>
      </p:sp>
      <p:pic>
        <p:nvPicPr>
          <p:cNvPr id="2050" name="Picture 2">
            <a:extLst>
              <a:ext uri="{FF2B5EF4-FFF2-40B4-BE49-F238E27FC236}">
                <a16:creationId xmlns:a16="http://schemas.microsoft.com/office/drawing/2014/main" id="{21CA1EC5-5ED5-DB6A-C1A8-E5FCF88E39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97" y="923925"/>
            <a:ext cx="7228504" cy="3999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45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Genel Churn </a:t>
            </a:r>
            <a:r>
              <a:rPr lang="tr-TR" sz="2800" b="1" dirty="0">
                <a:solidFill>
                  <a:srgbClr val="1A1F3D"/>
                </a:solidFill>
                <a:latin typeface="Calibri" pitchFamily="34" charset="0"/>
                <a:ea typeface="Calibri" pitchFamily="34" charset="-122"/>
                <a:cs typeface="Calibri" pitchFamily="34" charset="-120"/>
              </a:rPr>
              <a:t>İncelemesi</a:t>
            </a:r>
            <a:endParaRPr lang="en-US" sz="2800" dirty="0"/>
          </a:p>
        </p:txBody>
      </p:sp>
      <p:sp>
        <p:nvSpPr>
          <p:cNvPr id="4" name="Shape 1"/>
          <p:cNvSpPr/>
          <p:nvPr/>
        </p:nvSpPr>
        <p:spPr>
          <a:xfrm>
            <a:off x="5760720" y="914400"/>
            <a:ext cx="301752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760720" y="914400"/>
            <a:ext cx="54864" cy="868680"/>
          </a:xfrm>
          <a:prstGeom prst="rect">
            <a:avLst/>
          </a:prstGeom>
          <a:solidFill>
            <a:srgbClr val="4A6CF7"/>
          </a:solidFill>
          <a:ln/>
        </p:spPr>
        <p:txBody>
          <a:bodyPr/>
          <a:lstStyle/>
          <a:p>
            <a:endParaRPr lang="en-US" dirty="0"/>
          </a:p>
        </p:txBody>
      </p:sp>
      <p:sp>
        <p:nvSpPr>
          <p:cNvPr id="6" name="Text 3"/>
          <p:cNvSpPr/>
          <p:nvPr/>
        </p:nvSpPr>
        <p:spPr>
          <a:xfrm>
            <a:off x="5943600" y="960120"/>
            <a:ext cx="2743200" cy="457200"/>
          </a:xfrm>
          <a:prstGeom prst="rect">
            <a:avLst/>
          </a:prstGeom>
          <a:noFill/>
          <a:ln/>
        </p:spPr>
        <p:txBody>
          <a:bodyPr wrap="square" lIns="0" tIns="0" rIns="0" bIns="0" rtlCol="0" anchor="ctr"/>
          <a:lstStyle/>
          <a:p>
            <a:pPr marL="0" indent="0">
              <a:buNone/>
            </a:pPr>
            <a:r>
              <a:rPr lang="en-US" sz="2600" b="1" dirty="0">
                <a:solidFill>
                  <a:srgbClr val="1A1F3D"/>
                </a:solidFill>
                <a:latin typeface="Calibri" pitchFamily="34" charset="0"/>
                <a:ea typeface="Calibri" pitchFamily="34" charset="-122"/>
                <a:cs typeface="Calibri" pitchFamily="34" charset="-120"/>
              </a:rPr>
              <a:t>10.000</a:t>
            </a:r>
            <a:endParaRPr lang="en-US" sz="2600" dirty="0"/>
          </a:p>
        </p:txBody>
      </p:sp>
      <p:sp>
        <p:nvSpPr>
          <p:cNvPr id="7" name="Text 4"/>
          <p:cNvSpPr/>
          <p:nvPr/>
        </p:nvSpPr>
        <p:spPr>
          <a:xfrm>
            <a:off x="5943600" y="1371600"/>
            <a:ext cx="27432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Toplam Müşteri</a:t>
            </a:r>
            <a:endParaRPr lang="en-US" sz="1200" dirty="0"/>
          </a:p>
        </p:txBody>
      </p:sp>
      <p:sp>
        <p:nvSpPr>
          <p:cNvPr id="8" name="Shape 5"/>
          <p:cNvSpPr/>
          <p:nvPr/>
        </p:nvSpPr>
        <p:spPr>
          <a:xfrm>
            <a:off x="5760720" y="1965960"/>
            <a:ext cx="301752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9" name="Shape 6"/>
          <p:cNvSpPr/>
          <p:nvPr/>
        </p:nvSpPr>
        <p:spPr>
          <a:xfrm>
            <a:off x="5760720" y="1965960"/>
            <a:ext cx="54864" cy="868680"/>
          </a:xfrm>
          <a:prstGeom prst="rect">
            <a:avLst/>
          </a:prstGeom>
          <a:solidFill>
            <a:srgbClr val="E8594F"/>
          </a:solidFill>
          <a:ln/>
        </p:spPr>
        <p:txBody>
          <a:bodyPr/>
          <a:lstStyle/>
          <a:p>
            <a:endParaRPr lang="en-US" dirty="0"/>
          </a:p>
        </p:txBody>
      </p:sp>
      <p:sp>
        <p:nvSpPr>
          <p:cNvPr id="10" name="Text 7"/>
          <p:cNvSpPr/>
          <p:nvPr/>
        </p:nvSpPr>
        <p:spPr>
          <a:xfrm>
            <a:off x="5943600" y="2011680"/>
            <a:ext cx="2743200" cy="457200"/>
          </a:xfrm>
          <a:prstGeom prst="rect">
            <a:avLst/>
          </a:prstGeom>
          <a:noFill/>
          <a:ln/>
        </p:spPr>
        <p:txBody>
          <a:bodyPr wrap="square" lIns="0" tIns="0" rIns="0" bIns="0" rtlCol="0" anchor="ctr"/>
          <a:lstStyle/>
          <a:p>
            <a:pPr marL="0" indent="0">
              <a:buNone/>
            </a:pPr>
            <a:r>
              <a:rPr lang="en-US" sz="2600" b="1" dirty="0">
                <a:solidFill>
                  <a:srgbClr val="1A1F3D"/>
                </a:solidFill>
                <a:latin typeface="Calibri" pitchFamily="34" charset="0"/>
                <a:ea typeface="Calibri" pitchFamily="34" charset="-122"/>
                <a:cs typeface="Calibri" pitchFamily="34" charset="-120"/>
              </a:rPr>
              <a:t>2.037</a:t>
            </a:r>
            <a:endParaRPr lang="en-US" sz="2600" dirty="0"/>
          </a:p>
        </p:txBody>
      </p:sp>
      <p:sp>
        <p:nvSpPr>
          <p:cNvPr id="11" name="Text 8"/>
          <p:cNvSpPr/>
          <p:nvPr/>
        </p:nvSpPr>
        <p:spPr>
          <a:xfrm>
            <a:off x="5943600" y="2423160"/>
            <a:ext cx="27432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Ayrılan Müşteri</a:t>
            </a:r>
            <a:endParaRPr lang="en-US" sz="1200" dirty="0"/>
          </a:p>
        </p:txBody>
      </p:sp>
      <p:sp>
        <p:nvSpPr>
          <p:cNvPr id="12" name="Shape 9"/>
          <p:cNvSpPr/>
          <p:nvPr/>
        </p:nvSpPr>
        <p:spPr>
          <a:xfrm>
            <a:off x="5760720" y="3017520"/>
            <a:ext cx="301752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3" name="Shape 10"/>
          <p:cNvSpPr/>
          <p:nvPr/>
        </p:nvSpPr>
        <p:spPr>
          <a:xfrm>
            <a:off x="5760720" y="3017520"/>
            <a:ext cx="54864" cy="868680"/>
          </a:xfrm>
          <a:prstGeom prst="rect">
            <a:avLst/>
          </a:prstGeom>
          <a:solidFill>
            <a:srgbClr val="F59E0B"/>
          </a:solidFill>
          <a:ln/>
        </p:spPr>
        <p:txBody>
          <a:bodyPr/>
          <a:lstStyle/>
          <a:p>
            <a:endParaRPr lang="en-US" dirty="0"/>
          </a:p>
        </p:txBody>
      </p:sp>
      <p:sp>
        <p:nvSpPr>
          <p:cNvPr id="14" name="Text 11"/>
          <p:cNvSpPr/>
          <p:nvPr/>
        </p:nvSpPr>
        <p:spPr>
          <a:xfrm>
            <a:off x="5943600" y="3063240"/>
            <a:ext cx="2743200" cy="457200"/>
          </a:xfrm>
          <a:prstGeom prst="rect">
            <a:avLst/>
          </a:prstGeom>
          <a:noFill/>
          <a:ln/>
        </p:spPr>
        <p:txBody>
          <a:bodyPr wrap="square" lIns="0" tIns="0" rIns="0" bIns="0" rtlCol="0" anchor="ctr"/>
          <a:lstStyle/>
          <a:p>
            <a:pPr marL="0" indent="0">
              <a:buNone/>
            </a:pPr>
            <a:r>
              <a:rPr lang="en-US" sz="2600" b="1" dirty="0">
                <a:solidFill>
                  <a:srgbClr val="1A1F3D"/>
                </a:solidFill>
                <a:latin typeface="Calibri" pitchFamily="34" charset="0"/>
                <a:ea typeface="Calibri" pitchFamily="34" charset="-122"/>
                <a:cs typeface="Calibri" pitchFamily="34" charset="-120"/>
              </a:rPr>
              <a:t>%20.4</a:t>
            </a:r>
            <a:endParaRPr lang="en-US" sz="2600" dirty="0"/>
          </a:p>
        </p:txBody>
      </p:sp>
      <p:sp>
        <p:nvSpPr>
          <p:cNvPr id="15" name="Text 12"/>
          <p:cNvSpPr/>
          <p:nvPr/>
        </p:nvSpPr>
        <p:spPr>
          <a:xfrm>
            <a:off x="5943600" y="3474720"/>
            <a:ext cx="27432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Churn Oranı</a:t>
            </a:r>
            <a:endParaRPr lang="en-US" sz="1200" dirty="0"/>
          </a:p>
        </p:txBody>
      </p:sp>
      <p:sp>
        <p:nvSpPr>
          <p:cNvPr id="16" name="Text 13"/>
          <p:cNvSpPr/>
          <p:nvPr/>
        </p:nvSpPr>
        <p:spPr>
          <a:xfrm>
            <a:off x="548640" y="4114800"/>
            <a:ext cx="8229600" cy="457200"/>
          </a:xfrm>
          <a:prstGeom prst="rect">
            <a:avLst/>
          </a:prstGeom>
          <a:noFill/>
          <a:ln/>
        </p:spPr>
        <p:txBody>
          <a:bodyPr wrap="square" rtlCol="0" anchor="ctr"/>
          <a:lstStyle/>
          <a:p>
            <a:pPr marL="0" indent="0">
              <a:buNone/>
            </a:pPr>
            <a:r>
              <a:rPr lang="en-US" sz="1600" b="1" dirty="0">
                <a:solidFill>
                  <a:srgbClr val="E8594F"/>
                </a:solidFill>
                <a:latin typeface="Calibri" pitchFamily="34" charset="0"/>
                <a:ea typeface="Calibri" pitchFamily="34" charset="-122"/>
                <a:cs typeface="Calibri" pitchFamily="34" charset="-120"/>
              </a:rPr>
              <a:t>Her 5 müşteriden 1'i bankayı bırakıyor — bu önemli bir müşteri kaybı riskidir.</a:t>
            </a:r>
            <a:endParaRPr lang="en-US" sz="1600" dirty="0"/>
          </a:p>
        </p:txBody>
      </p:sp>
      <p:pic>
        <p:nvPicPr>
          <p:cNvPr id="3074" name="Picture 2">
            <a:extLst>
              <a:ext uri="{FF2B5EF4-FFF2-40B4-BE49-F238E27FC236}">
                <a16:creationId xmlns:a16="http://schemas.microsoft.com/office/drawing/2014/main" id="{D4C4FD47-BB2E-10E5-F47E-35C0CF593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65" y="1164352"/>
            <a:ext cx="5549739" cy="2517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      Tüm Değişkenlere Göre Churn</a:t>
            </a:r>
            <a:endParaRPr lang="en-US" sz="2800" dirty="0"/>
          </a:p>
        </p:txBody>
      </p:sp>
      <p:sp>
        <p:nvSpPr>
          <p:cNvPr id="5" name="Title 1">
            <a:extLst>
              <a:ext uri="{FF2B5EF4-FFF2-40B4-BE49-F238E27FC236}">
                <a16:creationId xmlns:a16="http://schemas.microsoft.com/office/drawing/2014/main" id="{55A5D658-369D-CD5B-55A2-CDAE6CC8774F}"/>
              </a:ext>
            </a:extLst>
          </p:cNvPr>
          <p:cNvSpPr txBox="1">
            <a:spLocks/>
          </p:cNvSpPr>
          <p:nvPr/>
        </p:nvSpPr>
        <p:spPr>
          <a:xfrm>
            <a:off x="457598" y="134430"/>
            <a:ext cx="6260836" cy="54864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sz="2200" dirty="0"/>
          </a:p>
        </p:txBody>
      </p:sp>
      <p:pic>
        <p:nvPicPr>
          <p:cNvPr id="4098" name="Picture 2">
            <a:extLst>
              <a:ext uri="{FF2B5EF4-FFF2-40B4-BE49-F238E27FC236}">
                <a16:creationId xmlns:a16="http://schemas.microsoft.com/office/drawing/2014/main" id="{377750E2-5FF8-C923-E2E1-89B5DDE58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155" y="777820"/>
            <a:ext cx="6467021" cy="4231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28600"/>
            <a:ext cx="8229600" cy="73152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Demografik Faktörler</a:t>
            </a:r>
            <a:r>
              <a:rPr lang="tr-TR" sz="2800" b="1" dirty="0">
                <a:solidFill>
                  <a:srgbClr val="1A1F3D"/>
                </a:solidFill>
                <a:latin typeface="Calibri" pitchFamily="34" charset="0"/>
                <a:ea typeface="Calibri" pitchFamily="34" charset="-122"/>
                <a:cs typeface="Calibri" pitchFamily="34" charset="-120"/>
              </a:rPr>
              <a:t> </a:t>
            </a:r>
          </a:p>
          <a:p>
            <a:pPr marL="0" indent="0">
              <a:buNone/>
            </a:pPr>
            <a:r>
              <a:rPr lang="tr-TR" sz="1400" i="1" dirty="0">
                <a:solidFill>
                  <a:srgbClr val="1A1F3D"/>
                </a:solidFill>
                <a:latin typeface="Calibri" pitchFamily="34" charset="0"/>
                <a:ea typeface="Calibri" pitchFamily="34" charset="-122"/>
                <a:cs typeface="Calibri" pitchFamily="34" charset="-120"/>
              </a:rPr>
              <a:t>Bu kapsamda </a:t>
            </a:r>
            <a:r>
              <a:rPr lang="tr-TR" sz="1400" b="1" i="1" dirty="0">
                <a:solidFill>
                  <a:srgbClr val="1A1F3D"/>
                </a:solidFill>
                <a:latin typeface="Calibri" pitchFamily="34" charset="0"/>
                <a:ea typeface="Calibri" pitchFamily="34" charset="-122"/>
                <a:cs typeface="Calibri" pitchFamily="34" charset="-120"/>
              </a:rPr>
              <a:t>country, gender, age</a:t>
            </a:r>
            <a:r>
              <a:rPr lang="tr-TR" sz="1400" i="1" dirty="0">
                <a:solidFill>
                  <a:srgbClr val="1A1F3D"/>
                </a:solidFill>
                <a:latin typeface="Calibri" pitchFamily="34" charset="0"/>
                <a:ea typeface="Calibri" pitchFamily="34" charset="-122"/>
                <a:cs typeface="Calibri" pitchFamily="34" charset="-120"/>
              </a:rPr>
              <a:t> değişkenleri incelenmiştir.</a:t>
            </a:r>
            <a:endParaRPr lang="en-US" sz="1400" i="1" dirty="0"/>
          </a:p>
        </p:txBody>
      </p:sp>
      <p:pic>
        <p:nvPicPr>
          <p:cNvPr id="3" name="Image 0" descr="/home/claude/pptx_images/image10.png"/>
          <p:cNvPicPr>
            <a:picLocks noChangeAspect="1"/>
          </p:cNvPicPr>
          <p:nvPr/>
        </p:nvPicPr>
        <p:blipFill>
          <a:blip r:embed="rId3"/>
          <a:srcRect/>
          <a:stretch/>
        </p:blipFill>
        <p:spPr>
          <a:xfrm>
            <a:off x="432792" y="1083945"/>
            <a:ext cx="8254008" cy="2809875"/>
          </a:xfrm>
          <a:prstGeom prst="rect">
            <a:avLst/>
          </a:prstGeom>
        </p:spPr>
      </p:pic>
      <p:sp>
        <p:nvSpPr>
          <p:cNvPr id="4" name="Shape 1"/>
          <p:cNvSpPr/>
          <p:nvPr/>
        </p:nvSpPr>
        <p:spPr>
          <a:xfrm>
            <a:off x="457200" y="3931920"/>
            <a:ext cx="8229600" cy="731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457200" y="3931920"/>
            <a:ext cx="54864" cy="731520"/>
          </a:xfrm>
          <a:prstGeom prst="rect">
            <a:avLst/>
          </a:prstGeom>
          <a:solidFill>
            <a:srgbClr val="4A6CF7"/>
          </a:solidFill>
          <a:ln/>
        </p:spPr>
        <p:txBody>
          <a:bodyPr/>
          <a:lstStyle/>
          <a:p>
            <a:endParaRPr lang="en-US" dirty="0"/>
          </a:p>
        </p:txBody>
      </p:sp>
      <p:sp>
        <p:nvSpPr>
          <p:cNvPr id="6" name="Text 3"/>
          <p:cNvSpPr/>
          <p:nvPr/>
        </p:nvSpPr>
        <p:spPr>
          <a:xfrm>
            <a:off x="731520" y="3931920"/>
            <a:ext cx="7772400" cy="731520"/>
          </a:xfrm>
          <a:prstGeom prst="rect">
            <a:avLst/>
          </a:prstGeom>
          <a:noFill/>
          <a:ln/>
        </p:spPr>
        <p:txBody>
          <a:bodyPr wrap="square" rtlCol="0" anchor="ctr"/>
          <a:lstStyle/>
          <a:p>
            <a:pPr marL="0" indent="0">
              <a:buNone/>
            </a:pPr>
            <a:r>
              <a:rPr lang="en-US" sz="1200" dirty="0">
                <a:solidFill>
                  <a:srgbClr val="4B5563"/>
                </a:solidFill>
                <a:latin typeface="Calibri" pitchFamily="34" charset="0"/>
                <a:ea typeface="Calibri" pitchFamily="34" charset="-122"/>
                <a:cs typeface="Calibri" pitchFamily="34" charset="-120"/>
              </a:rPr>
              <a:t>Demografik analizler, özellikle ileri yaş ve Almanya müşteri grubunun churn açısından daha yüksek risk taşıdığını göstermektedir.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28600"/>
            <a:ext cx="8229600" cy="78486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Davranışsal Faktörler</a:t>
            </a:r>
            <a:endParaRPr lang="tr-TR" sz="2800" b="1" dirty="0">
              <a:solidFill>
                <a:srgbClr val="1A1F3D"/>
              </a:solidFill>
              <a:latin typeface="Calibri" pitchFamily="34" charset="0"/>
              <a:ea typeface="Calibri" pitchFamily="34" charset="-122"/>
              <a:cs typeface="Calibri" pitchFamily="34" charset="-120"/>
            </a:endParaRPr>
          </a:p>
          <a:p>
            <a:pPr marL="0" indent="0">
              <a:buNone/>
            </a:pPr>
            <a:r>
              <a:rPr lang="tr-TR" sz="1400" i="1" dirty="0">
                <a:solidFill>
                  <a:srgbClr val="1A1F3D"/>
                </a:solidFill>
                <a:latin typeface="Calibri" pitchFamily="34" charset="0"/>
                <a:cs typeface="Calibri" pitchFamily="34" charset="-120"/>
              </a:rPr>
              <a:t>Bu kapsamda </a:t>
            </a:r>
            <a:r>
              <a:rPr lang="tr-TR" sz="1400" b="1" i="1" dirty="0">
                <a:solidFill>
                  <a:srgbClr val="1A1F3D"/>
                </a:solidFill>
                <a:latin typeface="Calibri" pitchFamily="34" charset="0"/>
                <a:cs typeface="Calibri" pitchFamily="34" charset="-120"/>
              </a:rPr>
              <a:t>active_member, products_number, credit_card, tenure </a:t>
            </a:r>
            <a:r>
              <a:rPr lang="tr-TR" sz="1400" i="1" dirty="0">
                <a:solidFill>
                  <a:srgbClr val="1A1F3D"/>
                </a:solidFill>
                <a:latin typeface="Calibri" pitchFamily="34" charset="0"/>
                <a:cs typeface="Calibri" pitchFamily="34" charset="-120"/>
              </a:rPr>
              <a:t>değişkenleri incelenmiştir</a:t>
            </a:r>
            <a:r>
              <a:rPr lang="tr-TR" sz="1600" dirty="0">
                <a:solidFill>
                  <a:srgbClr val="1A1F3D"/>
                </a:solidFill>
                <a:latin typeface="Calibri" pitchFamily="34" charset="0"/>
                <a:cs typeface="Calibri" pitchFamily="34" charset="-120"/>
              </a:rPr>
              <a:t>.</a:t>
            </a:r>
            <a:endParaRPr lang="en-US" sz="1600" dirty="0"/>
          </a:p>
        </p:txBody>
      </p:sp>
      <p:pic>
        <p:nvPicPr>
          <p:cNvPr id="3" name="Image 0" descr="/home/claude/pptx_images/image11.png"/>
          <p:cNvPicPr>
            <a:picLocks noChangeAspect="1"/>
          </p:cNvPicPr>
          <p:nvPr/>
        </p:nvPicPr>
        <p:blipFill>
          <a:blip r:embed="rId3"/>
          <a:srcRect/>
          <a:stretch/>
        </p:blipFill>
        <p:spPr>
          <a:xfrm>
            <a:off x="274320" y="1280160"/>
            <a:ext cx="5029200" cy="2743200"/>
          </a:xfrm>
          <a:prstGeom prst="rect">
            <a:avLst/>
          </a:prstGeom>
        </p:spPr>
      </p:pic>
      <p:sp>
        <p:nvSpPr>
          <p:cNvPr id="4" name="Shape 1"/>
          <p:cNvSpPr/>
          <p:nvPr/>
        </p:nvSpPr>
        <p:spPr>
          <a:xfrm>
            <a:off x="5541264" y="1051560"/>
            <a:ext cx="3328416" cy="34366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503545" y="1051560"/>
            <a:ext cx="45719" cy="3436620"/>
          </a:xfrm>
          <a:prstGeom prst="rect">
            <a:avLst/>
          </a:prstGeom>
          <a:solidFill>
            <a:srgbClr val="0EA5A0"/>
          </a:solidFill>
          <a:ln/>
        </p:spPr>
        <p:txBody>
          <a:bodyPr/>
          <a:lstStyle/>
          <a:p>
            <a:endParaRPr lang="en-US" dirty="0"/>
          </a:p>
        </p:txBody>
      </p:sp>
      <p:sp>
        <p:nvSpPr>
          <p:cNvPr id="6" name="Text 3"/>
          <p:cNvSpPr/>
          <p:nvPr/>
        </p:nvSpPr>
        <p:spPr>
          <a:xfrm>
            <a:off x="5715000" y="1051560"/>
            <a:ext cx="3017520" cy="3200400"/>
          </a:xfrm>
          <a:prstGeom prst="rect">
            <a:avLst/>
          </a:prstGeom>
          <a:noFill/>
          <a:ln/>
        </p:spPr>
        <p:txBody>
          <a:bodyPr wrap="square" rtlCol="0" anchor="t"/>
          <a:lstStyle/>
          <a:p>
            <a:pPr marL="0" indent="0">
              <a:buNone/>
            </a:pPr>
            <a:r>
              <a:rPr lang="en-US" sz="1400" b="1" dirty="0">
                <a:solidFill>
                  <a:srgbClr val="1A1F3D"/>
                </a:solidFill>
                <a:latin typeface="Calibri" pitchFamily="34" charset="0"/>
                <a:ea typeface="Calibri" pitchFamily="34" charset="-122"/>
                <a:cs typeface="Calibri" pitchFamily="34" charset="-120"/>
              </a:rPr>
              <a:t>Temel Bulgular</a:t>
            </a:r>
            <a:endParaRPr lang="en-US" sz="1400" dirty="0"/>
          </a:p>
          <a:p>
            <a:pPr marL="0" indent="0">
              <a:buNone/>
            </a:pPr>
            <a:endParaRPr lang="en-US" sz="1400" dirty="0"/>
          </a:p>
          <a:p>
            <a:pPr marL="342900" indent="-342900">
              <a:buSzPct val="100000"/>
              <a:buChar char="•"/>
            </a:pPr>
            <a:r>
              <a:rPr lang="en-US" sz="1100" b="1" dirty="0">
                <a:solidFill>
                  <a:srgbClr val="4B5563"/>
                </a:solidFill>
                <a:latin typeface="Calibri" pitchFamily="34" charset="0"/>
                <a:ea typeface="Calibri" pitchFamily="34" charset="-122"/>
                <a:cs typeface="Calibri" pitchFamily="34" charset="-120"/>
              </a:rPr>
              <a:t>Pasif müşterilerde churn oranı aktif müşterilere göre belirgin şekilde daha yüksektir.</a:t>
            </a:r>
            <a:endParaRPr lang="en-US" sz="1400" b="1" dirty="0"/>
          </a:p>
          <a:p>
            <a:pPr marL="0" indent="0">
              <a:buNone/>
            </a:pPr>
            <a:endParaRPr lang="en-US" sz="1400" b="1" dirty="0"/>
          </a:p>
          <a:p>
            <a:pPr marL="342900" indent="-342900">
              <a:buSzPct val="100000"/>
              <a:buChar char="•"/>
            </a:pPr>
            <a:r>
              <a:rPr lang="en-US" sz="1100" b="1" dirty="0">
                <a:solidFill>
                  <a:srgbClr val="4B5563"/>
                </a:solidFill>
                <a:latin typeface="Calibri" pitchFamily="34" charset="0"/>
                <a:ea typeface="Calibri" pitchFamily="34" charset="-122"/>
                <a:cs typeface="Calibri" pitchFamily="34" charset="-120"/>
              </a:rPr>
              <a:t>2 ürün kullanan müşteriler en düşük churn oranına sahip, daha stabil müşteri grubunu oluşturmaktadır.</a:t>
            </a:r>
            <a:endParaRPr lang="en-US" sz="1400" b="1" dirty="0"/>
          </a:p>
          <a:p>
            <a:pPr marL="0" indent="0">
              <a:buNone/>
            </a:pPr>
            <a:endParaRPr lang="en-US" sz="1400" b="1" dirty="0"/>
          </a:p>
          <a:p>
            <a:pPr marL="342900" indent="-342900">
              <a:buSzPct val="100000"/>
              <a:buChar char="•"/>
            </a:pPr>
            <a:r>
              <a:rPr lang="en-US" sz="1100" b="1" dirty="0">
                <a:solidFill>
                  <a:srgbClr val="4B5563"/>
                </a:solidFill>
                <a:latin typeface="Calibri" pitchFamily="34" charset="0"/>
                <a:ea typeface="Calibri" pitchFamily="34" charset="-122"/>
                <a:cs typeface="Calibri" pitchFamily="34" charset="-120"/>
              </a:rPr>
              <a:t>Ürün sayısı arttıkça </a:t>
            </a:r>
            <a:r>
              <a:rPr lang="tr-TR" sz="1100" b="1" dirty="0">
                <a:solidFill>
                  <a:srgbClr val="4B5563"/>
                </a:solidFill>
                <a:latin typeface="Calibri" pitchFamily="34" charset="0"/>
                <a:ea typeface="Calibri" pitchFamily="34" charset="-122"/>
                <a:cs typeface="Calibri" pitchFamily="34" charset="-120"/>
              </a:rPr>
              <a:t>(3 ve 4 ürün)</a:t>
            </a:r>
            <a:r>
              <a:rPr lang="en-US" sz="1100" b="1" dirty="0">
                <a:solidFill>
                  <a:srgbClr val="4B5563"/>
                </a:solidFill>
                <a:latin typeface="Calibri" pitchFamily="34" charset="0"/>
                <a:ea typeface="Calibri" pitchFamily="34" charset="-122"/>
                <a:cs typeface="Calibri" pitchFamily="34" charset="-120"/>
              </a:rPr>
              <a:t> churn oranı </a:t>
            </a:r>
            <a:r>
              <a:rPr lang="tr-TR" sz="1100" b="1" dirty="0">
                <a:solidFill>
                  <a:srgbClr val="4B5563"/>
                </a:solidFill>
                <a:latin typeface="Calibri" pitchFamily="34" charset="0"/>
                <a:ea typeface="Calibri" pitchFamily="34" charset="-122"/>
                <a:cs typeface="Calibri" pitchFamily="34" charset="-120"/>
              </a:rPr>
              <a:t>dramatik şekilde yükselmektedir. </a:t>
            </a:r>
          </a:p>
          <a:p>
            <a:pPr marL="342900" indent="-342900">
              <a:buSzPct val="100000"/>
              <a:buChar char="•"/>
            </a:pPr>
            <a:endParaRPr lang="tr-TR" sz="1100" b="1" dirty="0">
              <a:solidFill>
                <a:srgbClr val="4B5563"/>
              </a:solidFill>
              <a:latin typeface="Calibri" pitchFamily="34" charset="0"/>
              <a:ea typeface="Calibri" pitchFamily="34" charset="-122"/>
              <a:cs typeface="Calibri" pitchFamily="34" charset="-120"/>
            </a:endParaRPr>
          </a:p>
          <a:p>
            <a:pPr>
              <a:buSzPct val="100000"/>
            </a:pPr>
            <a:r>
              <a:rPr lang="tr-TR" sz="1100" b="1" dirty="0">
                <a:solidFill>
                  <a:srgbClr val="4B5563"/>
                </a:solidFill>
                <a:latin typeface="Calibri" pitchFamily="34" charset="0"/>
                <a:cs typeface="Calibri" pitchFamily="34" charset="-120"/>
              </a:rPr>
              <a:t>NOT: 3 ürün kullanan 220 müşteri, 4 ürün kullanan 60 müşteri bulunmaktadır. Örneklemin küçüklüğü göz önünde bulundurularak yorumlanmalıdır. </a:t>
            </a:r>
            <a:endParaRPr lang="en-US" sz="14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28600"/>
            <a:ext cx="8229600" cy="75438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Finansal Faktörler</a:t>
            </a:r>
            <a:endParaRPr lang="tr-TR" sz="2800" b="1" dirty="0">
              <a:solidFill>
                <a:srgbClr val="1A1F3D"/>
              </a:solidFill>
              <a:latin typeface="Calibri" pitchFamily="34" charset="0"/>
              <a:ea typeface="Calibri" pitchFamily="34" charset="-122"/>
              <a:cs typeface="Calibri" pitchFamily="34" charset="-120"/>
            </a:endParaRPr>
          </a:p>
          <a:p>
            <a:pPr marL="0" indent="0">
              <a:buNone/>
            </a:pPr>
            <a:r>
              <a:rPr lang="tr-TR" sz="1400" i="1" dirty="0">
                <a:solidFill>
                  <a:srgbClr val="1A1F3D"/>
                </a:solidFill>
                <a:latin typeface="Calibri" pitchFamily="34" charset="0"/>
                <a:cs typeface="Calibri" pitchFamily="34" charset="-120"/>
              </a:rPr>
              <a:t>Bu kapsamda </a:t>
            </a:r>
            <a:r>
              <a:rPr lang="tr-TR" sz="1400" b="1" i="1" dirty="0">
                <a:solidFill>
                  <a:srgbClr val="1A1F3D"/>
                </a:solidFill>
                <a:latin typeface="Calibri" pitchFamily="34" charset="0"/>
                <a:cs typeface="Calibri" pitchFamily="34" charset="-120"/>
              </a:rPr>
              <a:t>balance, estimated_salary, credit_score </a:t>
            </a:r>
            <a:r>
              <a:rPr lang="tr-TR" sz="1400" i="1" dirty="0">
                <a:solidFill>
                  <a:srgbClr val="1A1F3D"/>
                </a:solidFill>
                <a:latin typeface="Calibri" pitchFamily="34" charset="0"/>
                <a:cs typeface="Calibri" pitchFamily="34" charset="-120"/>
              </a:rPr>
              <a:t>değişkenleri incelenmiştir.</a:t>
            </a:r>
            <a:endParaRPr lang="en-US" sz="1400" i="1" dirty="0"/>
          </a:p>
        </p:txBody>
      </p:sp>
      <p:pic>
        <p:nvPicPr>
          <p:cNvPr id="3" name="Image 0" descr="/home/claude/pptx_images/image12.png"/>
          <p:cNvPicPr>
            <a:picLocks noChangeAspect="1"/>
          </p:cNvPicPr>
          <p:nvPr/>
        </p:nvPicPr>
        <p:blipFill>
          <a:blip r:embed="rId3"/>
          <a:srcRect/>
          <a:stretch/>
        </p:blipFill>
        <p:spPr>
          <a:xfrm>
            <a:off x="331090" y="1141095"/>
            <a:ext cx="4114800" cy="3200400"/>
          </a:xfrm>
          <a:prstGeom prst="rect">
            <a:avLst/>
          </a:prstGeom>
        </p:spPr>
      </p:pic>
      <p:sp>
        <p:nvSpPr>
          <p:cNvPr id="4" name="Shape 1"/>
          <p:cNvSpPr/>
          <p:nvPr/>
        </p:nvSpPr>
        <p:spPr>
          <a:xfrm>
            <a:off x="4641723" y="1224915"/>
            <a:ext cx="3931920" cy="914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4599432" y="1224915"/>
            <a:ext cx="54864" cy="914400"/>
          </a:xfrm>
          <a:prstGeom prst="rect">
            <a:avLst/>
          </a:prstGeom>
          <a:solidFill>
            <a:srgbClr val="E8594F"/>
          </a:solidFill>
          <a:ln/>
        </p:spPr>
        <p:txBody>
          <a:bodyPr/>
          <a:lstStyle/>
          <a:p>
            <a:endParaRPr lang="en-US" dirty="0"/>
          </a:p>
        </p:txBody>
      </p:sp>
      <p:sp>
        <p:nvSpPr>
          <p:cNvPr id="6" name="Text 3"/>
          <p:cNvSpPr/>
          <p:nvPr/>
        </p:nvSpPr>
        <p:spPr>
          <a:xfrm>
            <a:off x="4968049" y="1252538"/>
            <a:ext cx="1097280" cy="822960"/>
          </a:xfrm>
          <a:prstGeom prst="rect">
            <a:avLst/>
          </a:prstGeom>
          <a:noFill/>
          <a:ln/>
        </p:spPr>
        <p:txBody>
          <a:bodyPr wrap="square" lIns="0" tIns="0" rIns="0" bIns="0" rtlCol="0" anchor="ctr"/>
          <a:lstStyle/>
          <a:p>
            <a:pPr marL="0" indent="0">
              <a:buNone/>
            </a:pPr>
            <a:r>
              <a:rPr lang="en-US" sz="3000" b="1" dirty="0">
                <a:solidFill>
                  <a:srgbClr val="1A1F3D"/>
                </a:solidFill>
                <a:latin typeface="Calibri" pitchFamily="34" charset="0"/>
                <a:ea typeface="Calibri" pitchFamily="34" charset="-122"/>
                <a:cs typeface="Calibri" pitchFamily="34" charset="-120"/>
              </a:rPr>
              <a:t>%25</a:t>
            </a:r>
            <a:endParaRPr lang="en-US" sz="3000" dirty="0"/>
          </a:p>
        </p:txBody>
      </p:sp>
      <p:sp>
        <p:nvSpPr>
          <p:cNvPr id="7" name="Text 4"/>
          <p:cNvSpPr/>
          <p:nvPr/>
        </p:nvSpPr>
        <p:spPr>
          <a:xfrm>
            <a:off x="6034278" y="1252538"/>
            <a:ext cx="2377440" cy="822960"/>
          </a:xfrm>
          <a:prstGeom prst="rect">
            <a:avLst/>
          </a:prstGeom>
          <a:noFill/>
          <a:ln/>
        </p:spPr>
        <p:txBody>
          <a:bodyPr wrap="square" lIns="0" tIns="0" rIns="0" bIns="0" rtlCol="0" anchor="ctr"/>
          <a:lstStyle/>
          <a:p>
            <a:pPr marL="0" indent="0">
              <a:buNone/>
            </a:pPr>
            <a:r>
              <a:rPr lang="en-US" sz="1200" b="1" dirty="0">
                <a:solidFill>
                  <a:srgbClr val="4B5563"/>
                </a:solidFill>
                <a:latin typeface="Calibri" pitchFamily="34" charset="0"/>
                <a:ea typeface="Calibri" pitchFamily="34" charset="-122"/>
                <a:cs typeface="Calibri" pitchFamily="34" charset="-120"/>
              </a:rPr>
              <a:t>100K+ bakiye – en yüksek churn</a:t>
            </a:r>
            <a:endParaRPr lang="en-US" sz="1200" b="1" dirty="0"/>
          </a:p>
        </p:txBody>
      </p:sp>
      <p:sp>
        <p:nvSpPr>
          <p:cNvPr id="8" name="Shape 5"/>
          <p:cNvSpPr/>
          <p:nvPr/>
        </p:nvSpPr>
        <p:spPr>
          <a:xfrm>
            <a:off x="4626864" y="2377440"/>
            <a:ext cx="3931920" cy="914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9" name="Shape 6"/>
          <p:cNvSpPr/>
          <p:nvPr/>
        </p:nvSpPr>
        <p:spPr>
          <a:xfrm>
            <a:off x="4608576" y="2360296"/>
            <a:ext cx="54864" cy="914400"/>
          </a:xfrm>
          <a:prstGeom prst="rect">
            <a:avLst/>
          </a:prstGeom>
          <a:solidFill>
            <a:srgbClr val="F59E0B"/>
          </a:solidFill>
          <a:ln/>
        </p:spPr>
        <p:txBody>
          <a:bodyPr/>
          <a:lstStyle/>
          <a:p>
            <a:endParaRPr lang="en-US" dirty="0"/>
          </a:p>
        </p:txBody>
      </p:sp>
      <p:sp>
        <p:nvSpPr>
          <p:cNvPr id="10" name="Text 7"/>
          <p:cNvSpPr/>
          <p:nvPr/>
        </p:nvSpPr>
        <p:spPr>
          <a:xfrm>
            <a:off x="4965192" y="2377440"/>
            <a:ext cx="1097280" cy="822960"/>
          </a:xfrm>
          <a:prstGeom prst="rect">
            <a:avLst/>
          </a:prstGeom>
          <a:noFill/>
          <a:ln/>
        </p:spPr>
        <p:txBody>
          <a:bodyPr wrap="square" lIns="0" tIns="0" rIns="0" bIns="0" rtlCol="0" anchor="ctr"/>
          <a:lstStyle/>
          <a:p>
            <a:pPr marL="0" indent="0">
              <a:buNone/>
            </a:pPr>
            <a:r>
              <a:rPr lang="en-US" sz="3000" b="1" dirty="0">
                <a:solidFill>
                  <a:srgbClr val="1A1F3D"/>
                </a:solidFill>
                <a:latin typeface="Calibri" pitchFamily="34" charset="0"/>
                <a:ea typeface="Calibri" pitchFamily="34" charset="-122"/>
                <a:cs typeface="Calibri" pitchFamily="34" charset="-120"/>
              </a:rPr>
              <a:t>%21</a:t>
            </a:r>
            <a:endParaRPr lang="en-US" sz="3000" dirty="0"/>
          </a:p>
        </p:txBody>
      </p:sp>
      <p:sp>
        <p:nvSpPr>
          <p:cNvPr id="11" name="Text 8"/>
          <p:cNvSpPr/>
          <p:nvPr/>
        </p:nvSpPr>
        <p:spPr>
          <a:xfrm>
            <a:off x="6034278" y="2414588"/>
            <a:ext cx="2377440" cy="822960"/>
          </a:xfrm>
          <a:prstGeom prst="rect">
            <a:avLst/>
          </a:prstGeom>
          <a:noFill/>
          <a:ln/>
        </p:spPr>
        <p:txBody>
          <a:bodyPr wrap="square" lIns="0" tIns="0" rIns="0" bIns="0" rtlCol="0" anchor="ctr"/>
          <a:lstStyle/>
          <a:p>
            <a:pPr marL="0" indent="0">
              <a:buNone/>
            </a:pPr>
            <a:r>
              <a:rPr lang="en-US" sz="1200" b="1" dirty="0">
                <a:solidFill>
                  <a:srgbClr val="4B5563"/>
                </a:solidFill>
                <a:latin typeface="Calibri" pitchFamily="34" charset="0"/>
                <a:ea typeface="Calibri" pitchFamily="34" charset="-122"/>
                <a:cs typeface="Calibri" pitchFamily="34" charset="-120"/>
              </a:rPr>
              <a:t>0–100K bakiye – orta churn</a:t>
            </a:r>
            <a:endParaRPr lang="en-US" sz="1200" b="1" dirty="0"/>
          </a:p>
        </p:txBody>
      </p:sp>
      <p:sp>
        <p:nvSpPr>
          <p:cNvPr id="12" name="Shape 9"/>
          <p:cNvSpPr/>
          <p:nvPr/>
        </p:nvSpPr>
        <p:spPr>
          <a:xfrm>
            <a:off x="4654296" y="3457576"/>
            <a:ext cx="3931920" cy="914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3" name="Shape 10"/>
          <p:cNvSpPr/>
          <p:nvPr/>
        </p:nvSpPr>
        <p:spPr>
          <a:xfrm>
            <a:off x="4608576" y="3427095"/>
            <a:ext cx="54864" cy="914400"/>
          </a:xfrm>
          <a:prstGeom prst="rect">
            <a:avLst/>
          </a:prstGeom>
          <a:solidFill>
            <a:srgbClr val="10B981"/>
          </a:solidFill>
          <a:ln/>
        </p:spPr>
        <p:txBody>
          <a:bodyPr/>
          <a:lstStyle/>
          <a:p>
            <a:endParaRPr lang="en-US" dirty="0"/>
          </a:p>
        </p:txBody>
      </p:sp>
      <p:sp>
        <p:nvSpPr>
          <p:cNvPr id="14" name="Text 11"/>
          <p:cNvSpPr/>
          <p:nvPr/>
        </p:nvSpPr>
        <p:spPr>
          <a:xfrm>
            <a:off x="4978908" y="3457576"/>
            <a:ext cx="1097280" cy="822960"/>
          </a:xfrm>
          <a:prstGeom prst="rect">
            <a:avLst/>
          </a:prstGeom>
          <a:noFill/>
          <a:ln/>
        </p:spPr>
        <p:txBody>
          <a:bodyPr wrap="square" lIns="0" tIns="0" rIns="0" bIns="0" rtlCol="0" anchor="ctr"/>
          <a:lstStyle/>
          <a:p>
            <a:pPr marL="0" indent="0">
              <a:buNone/>
            </a:pPr>
            <a:r>
              <a:rPr lang="en-US" sz="3000" b="1" dirty="0">
                <a:solidFill>
                  <a:srgbClr val="1A1F3D"/>
                </a:solidFill>
                <a:latin typeface="Calibri" pitchFamily="34" charset="0"/>
                <a:ea typeface="Calibri" pitchFamily="34" charset="-122"/>
                <a:cs typeface="Calibri" pitchFamily="34" charset="-120"/>
              </a:rPr>
              <a:t>%14</a:t>
            </a:r>
            <a:endParaRPr lang="en-US" sz="3000" dirty="0"/>
          </a:p>
        </p:txBody>
      </p:sp>
      <p:sp>
        <p:nvSpPr>
          <p:cNvPr id="15" name="Text 12"/>
          <p:cNvSpPr/>
          <p:nvPr/>
        </p:nvSpPr>
        <p:spPr>
          <a:xfrm>
            <a:off x="6076188" y="3512819"/>
            <a:ext cx="2377440" cy="822960"/>
          </a:xfrm>
          <a:prstGeom prst="rect">
            <a:avLst/>
          </a:prstGeom>
          <a:noFill/>
          <a:ln/>
        </p:spPr>
        <p:txBody>
          <a:bodyPr wrap="square" lIns="0" tIns="0" rIns="0" bIns="0" rtlCol="0" anchor="ctr"/>
          <a:lstStyle/>
          <a:p>
            <a:pPr marL="0" indent="0">
              <a:buNone/>
            </a:pPr>
            <a:r>
              <a:rPr lang="en-US" sz="1200" b="1" dirty="0">
                <a:solidFill>
                  <a:srgbClr val="4B5563"/>
                </a:solidFill>
                <a:latin typeface="Calibri" pitchFamily="34" charset="0"/>
                <a:ea typeface="Calibri" pitchFamily="34" charset="-122"/>
                <a:cs typeface="Calibri" pitchFamily="34" charset="-120"/>
              </a:rPr>
              <a:t>Bakiyesiz – düşük churn</a:t>
            </a:r>
            <a:endParaRPr lang="en-US" sz="1200" b="1" dirty="0"/>
          </a:p>
        </p:txBody>
      </p:sp>
      <p:sp>
        <p:nvSpPr>
          <p:cNvPr id="16" name="Text 13"/>
          <p:cNvSpPr/>
          <p:nvPr/>
        </p:nvSpPr>
        <p:spPr>
          <a:xfrm>
            <a:off x="548640" y="4297680"/>
            <a:ext cx="8229600" cy="365760"/>
          </a:xfrm>
          <a:prstGeom prst="rect">
            <a:avLst/>
          </a:prstGeom>
          <a:noFill/>
          <a:ln/>
        </p:spPr>
        <p:txBody>
          <a:bodyPr wrap="square" rtlCol="0" anchor="ctr"/>
          <a:lstStyle/>
          <a:p>
            <a:pPr marL="0" indent="0">
              <a:buNone/>
            </a:pPr>
            <a:r>
              <a:rPr lang="en-US" sz="1400" b="1" dirty="0">
                <a:solidFill>
                  <a:srgbClr val="6B7280"/>
                </a:solidFill>
                <a:latin typeface="Calibri" pitchFamily="34" charset="0"/>
                <a:ea typeface="Calibri" pitchFamily="34" charset="-122"/>
                <a:cs typeface="Calibri" pitchFamily="34" charset="-120"/>
              </a:rPr>
              <a:t>Müşteri bakiyesi arttıkça churn oranı yükselmektedir.</a:t>
            </a:r>
            <a:endParaRPr lang="en-US" sz="14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Korelasyon Matrisi</a:t>
            </a:r>
            <a:endParaRPr lang="en-US" sz="2800" dirty="0"/>
          </a:p>
        </p:txBody>
      </p:sp>
      <p:pic>
        <p:nvPicPr>
          <p:cNvPr id="3" name="Image 0" descr="/home/claude/pptx_images/image13.png"/>
          <p:cNvPicPr>
            <a:picLocks noChangeAspect="1"/>
          </p:cNvPicPr>
          <p:nvPr/>
        </p:nvPicPr>
        <p:blipFill>
          <a:blip r:embed="rId3"/>
          <a:srcRect/>
          <a:stretch/>
        </p:blipFill>
        <p:spPr>
          <a:xfrm>
            <a:off x="274320" y="914400"/>
            <a:ext cx="5029200" cy="3657600"/>
          </a:xfrm>
          <a:prstGeom prst="rect">
            <a:avLst/>
          </a:prstGeom>
        </p:spPr>
      </p:pic>
      <p:sp>
        <p:nvSpPr>
          <p:cNvPr id="4" name="Shape 1"/>
          <p:cNvSpPr/>
          <p:nvPr/>
        </p:nvSpPr>
        <p:spPr>
          <a:xfrm>
            <a:off x="5486400" y="914400"/>
            <a:ext cx="3383280"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486400" y="914400"/>
            <a:ext cx="54864" cy="3200400"/>
          </a:xfrm>
          <a:prstGeom prst="rect">
            <a:avLst/>
          </a:prstGeom>
          <a:solidFill>
            <a:srgbClr val="4A6CF7"/>
          </a:solidFill>
          <a:ln/>
        </p:spPr>
        <p:txBody>
          <a:bodyPr/>
          <a:lstStyle/>
          <a:p>
            <a:endParaRPr lang="en-US" dirty="0"/>
          </a:p>
        </p:txBody>
      </p:sp>
      <p:sp>
        <p:nvSpPr>
          <p:cNvPr id="6" name="Text 3"/>
          <p:cNvSpPr/>
          <p:nvPr/>
        </p:nvSpPr>
        <p:spPr>
          <a:xfrm>
            <a:off x="5715000" y="1051560"/>
            <a:ext cx="3017520" cy="2926080"/>
          </a:xfrm>
          <a:prstGeom prst="rect">
            <a:avLst/>
          </a:prstGeom>
          <a:noFill/>
          <a:ln/>
        </p:spPr>
        <p:txBody>
          <a:bodyPr wrap="square" rtlCol="0" anchor="t"/>
          <a:lstStyle/>
          <a:p>
            <a:pPr marL="0" indent="0">
              <a:buNone/>
            </a:pPr>
            <a:r>
              <a:rPr lang="en-US" sz="1400" b="1" dirty="0">
                <a:solidFill>
                  <a:srgbClr val="1A1F3D"/>
                </a:solidFill>
                <a:latin typeface="Calibri" pitchFamily="34" charset="0"/>
                <a:ea typeface="Calibri" pitchFamily="34" charset="-122"/>
                <a:cs typeface="Calibri" pitchFamily="34" charset="-120"/>
              </a:rPr>
              <a:t>Temel Bulgular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Churn ile en ilişkili değişkenler: yaş, aktiflik durumu ve bakiye.</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Yaş arttıkça churn eğilimi artmaktadır.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Aktif müşterilerde churn riski daha düşüktür.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Yüksek bakiyeli müşterilerde churn eğilimi kısmen daha yüksektir.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Churn Müşteri Profili</a:t>
            </a:r>
            <a:endParaRPr lang="en-US" sz="2800" dirty="0"/>
          </a:p>
        </p:txBody>
      </p:sp>
      <p:sp>
        <p:nvSpPr>
          <p:cNvPr id="3" name="Text 1"/>
          <p:cNvSpPr/>
          <p:nvPr/>
        </p:nvSpPr>
        <p:spPr>
          <a:xfrm>
            <a:off x="548640" y="777240"/>
            <a:ext cx="8229600" cy="365760"/>
          </a:xfrm>
          <a:prstGeom prst="rect">
            <a:avLst/>
          </a:prstGeom>
          <a:noFill/>
          <a:ln/>
        </p:spPr>
        <p:txBody>
          <a:bodyPr wrap="square" rtlCol="0" anchor="ctr"/>
          <a:lstStyle/>
          <a:p>
            <a:pPr marL="0" indent="0">
              <a:buNone/>
            </a:pPr>
            <a:r>
              <a:rPr lang="en-US" sz="1300" b="1" dirty="0">
                <a:solidFill>
                  <a:srgbClr val="6B7280"/>
                </a:solidFill>
                <a:latin typeface="Calibri" pitchFamily="34" charset="0"/>
                <a:ea typeface="Calibri" pitchFamily="34" charset="-122"/>
                <a:cs typeface="Calibri" pitchFamily="34" charset="-120"/>
              </a:rPr>
              <a:t>Analiz sonuçlarına göre genel churn oranı %20.4'ün üzerinde risk taşıyan gruplar:</a:t>
            </a:r>
            <a:endParaRPr lang="en-US" sz="1300" b="1" dirty="0"/>
          </a:p>
        </p:txBody>
      </p:sp>
      <p:sp>
        <p:nvSpPr>
          <p:cNvPr id="4" name="Shape 2"/>
          <p:cNvSpPr/>
          <p:nvPr/>
        </p:nvSpPr>
        <p:spPr>
          <a:xfrm>
            <a:off x="457200" y="1325880"/>
            <a:ext cx="2606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3"/>
          <p:cNvSpPr/>
          <p:nvPr/>
        </p:nvSpPr>
        <p:spPr>
          <a:xfrm>
            <a:off x="457200" y="1325880"/>
            <a:ext cx="2606040" cy="54864"/>
          </a:xfrm>
          <a:prstGeom prst="rect">
            <a:avLst/>
          </a:prstGeom>
          <a:solidFill>
            <a:srgbClr val="E8594F"/>
          </a:solidFill>
          <a:ln/>
        </p:spPr>
        <p:txBody>
          <a:bodyPr/>
          <a:lstStyle/>
          <a:p>
            <a:endParaRPr lang="en-US" dirty="0"/>
          </a:p>
        </p:txBody>
      </p:sp>
      <p:sp>
        <p:nvSpPr>
          <p:cNvPr id="6" name="Text 4"/>
          <p:cNvSpPr/>
          <p:nvPr/>
        </p:nvSpPr>
        <p:spPr>
          <a:xfrm>
            <a:off x="594360" y="1463040"/>
            <a:ext cx="1188720" cy="731520"/>
          </a:xfrm>
          <a:prstGeom prst="rect">
            <a:avLst/>
          </a:prstGeom>
          <a:noFill/>
          <a:ln/>
        </p:spPr>
        <p:txBody>
          <a:bodyPr wrap="square" lIns="0" tIns="0" rIns="0" bIns="0" rtlCol="0" anchor="ctr"/>
          <a:lstStyle/>
          <a:p>
            <a:pPr marL="0" indent="0">
              <a:buNone/>
            </a:pPr>
            <a:r>
              <a:rPr lang="en-US" sz="3600" b="1" dirty="0">
                <a:solidFill>
                  <a:srgbClr val="E8594F"/>
                </a:solidFill>
                <a:latin typeface="Calibri" pitchFamily="34" charset="0"/>
                <a:ea typeface="Calibri" pitchFamily="34" charset="-122"/>
                <a:cs typeface="Calibri" pitchFamily="34" charset="-120"/>
              </a:rPr>
              <a:t>%44</a:t>
            </a:r>
            <a:endParaRPr lang="en-US" sz="3600" dirty="0"/>
          </a:p>
        </p:txBody>
      </p:sp>
      <p:sp>
        <p:nvSpPr>
          <p:cNvPr id="7" name="Text 5"/>
          <p:cNvSpPr/>
          <p:nvPr/>
        </p:nvSpPr>
        <p:spPr>
          <a:xfrm>
            <a:off x="1737360" y="1463040"/>
            <a:ext cx="1188720" cy="411480"/>
          </a:xfrm>
          <a:prstGeom prst="rect">
            <a:avLst/>
          </a:prstGeom>
          <a:noFill/>
          <a:ln/>
        </p:spPr>
        <p:txBody>
          <a:bodyPr wrap="square" lIns="0" tIns="0" rIns="0" bIns="0" rtlCol="0" anchor="ctr"/>
          <a:lstStyle/>
          <a:p>
            <a:pPr marL="0" indent="0">
              <a:buNone/>
            </a:pPr>
            <a:r>
              <a:rPr lang="en-US" sz="1200" b="1" dirty="0">
                <a:solidFill>
                  <a:srgbClr val="1A1F3D"/>
                </a:solidFill>
                <a:latin typeface="Calibri" pitchFamily="34" charset="0"/>
                <a:ea typeface="Calibri" pitchFamily="34" charset="-122"/>
                <a:cs typeface="Calibri" pitchFamily="34" charset="-120"/>
              </a:rPr>
              <a:t>45+ Yaş Müşteriler</a:t>
            </a:r>
            <a:endParaRPr lang="en-US" sz="1200" dirty="0"/>
          </a:p>
        </p:txBody>
      </p:sp>
      <p:sp>
        <p:nvSpPr>
          <p:cNvPr id="8" name="Text 6"/>
          <p:cNvSpPr/>
          <p:nvPr/>
        </p:nvSpPr>
        <p:spPr>
          <a:xfrm>
            <a:off x="1737360" y="1874520"/>
            <a:ext cx="1188720" cy="32004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En yüksek churn segmenti</a:t>
            </a:r>
            <a:endParaRPr lang="en-US" sz="1000" dirty="0"/>
          </a:p>
        </p:txBody>
      </p:sp>
      <p:sp>
        <p:nvSpPr>
          <p:cNvPr id="9" name="Text 7"/>
          <p:cNvSpPr/>
          <p:nvPr/>
        </p:nvSpPr>
        <p:spPr>
          <a:xfrm>
            <a:off x="594360" y="2194560"/>
            <a:ext cx="914400"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churn</a:t>
            </a:r>
            <a:endParaRPr lang="en-US" sz="1000" dirty="0"/>
          </a:p>
        </p:txBody>
      </p:sp>
      <p:sp>
        <p:nvSpPr>
          <p:cNvPr id="10" name="Shape 8"/>
          <p:cNvSpPr/>
          <p:nvPr/>
        </p:nvSpPr>
        <p:spPr>
          <a:xfrm>
            <a:off x="3291840" y="1325880"/>
            <a:ext cx="2606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1" name="Shape 9"/>
          <p:cNvSpPr/>
          <p:nvPr/>
        </p:nvSpPr>
        <p:spPr>
          <a:xfrm>
            <a:off x="3291840" y="1325880"/>
            <a:ext cx="2606040" cy="54864"/>
          </a:xfrm>
          <a:prstGeom prst="rect">
            <a:avLst/>
          </a:prstGeom>
          <a:solidFill>
            <a:srgbClr val="E8594F"/>
          </a:solidFill>
          <a:ln/>
        </p:spPr>
        <p:txBody>
          <a:bodyPr/>
          <a:lstStyle/>
          <a:p>
            <a:endParaRPr lang="en-US" dirty="0"/>
          </a:p>
        </p:txBody>
      </p:sp>
      <p:sp>
        <p:nvSpPr>
          <p:cNvPr id="12" name="Text 10"/>
          <p:cNvSpPr/>
          <p:nvPr/>
        </p:nvSpPr>
        <p:spPr>
          <a:xfrm>
            <a:off x="3429000" y="1463040"/>
            <a:ext cx="1188720" cy="731520"/>
          </a:xfrm>
          <a:prstGeom prst="rect">
            <a:avLst/>
          </a:prstGeom>
          <a:noFill/>
          <a:ln/>
        </p:spPr>
        <p:txBody>
          <a:bodyPr wrap="square" lIns="0" tIns="0" rIns="0" bIns="0" rtlCol="0" anchor="ctr"/>
          <a:lstStyle/>
          <a:p>
            <a:pPr marL="0" indent="0">
              <a:buNone/>
            </a:pPr>
            <a:r>
              <a:rPr lang="en-US" sz="3600" b="1" dirty="0">
                <a:solidFill>
                  <a:srgbClr val="E8594F"/>
                </a:solidFill>
                <a:latin typeface="Calibri" pitchFamily="34" charset="0"/>
                <a:ea typeface="Calibri" pitchFamily="34" charset="-122"/>
                <a:cs typeface="Calibri" pitchFamily="34" charset="-120"/>
              </a:rPr>
              <a:t>%32</a:t>
            </a:r>
            <a:endParaRPr lang="en-US" sz="3600" dirty="0"/>
          </a:p>
        </p:txBody>
      </p:sp>
      <p:sp>
        <p:nvSpPr>
          <p:cNvPr id="13" name="Text 11"/>
          <p:cNvSpPr/>
          <p:nvPr/>
        </p:nvSpPr>
        <p:spPr>
          <a:xfrm>
            <a:off x="4572000" y="1463040"/>
            <a:ext cx="1188720" cy="411480"/>
          </a:xfrm>
          <a:prstGeom prst="rect">
            <a:avLst/>
          </a:prstGeom>
          <a:noFill/>
          <a:ln/>
        </p:spPr>
        <p:txBody>
          <a:bodyPr wrap="square" lIns="0" tIns="0" rIns="0" bIns="0" rtlCol="0" anchor="ctr"/>
          <a:lstStyle/>
          <a:p>
            <a:pPr marL="0" indent="0">
              <a:buNone/>
            </a:pPr>
            <a:r>
              <a:rPr lang="en-US" sz="1200" b="1" dirty="0">
                <a:solidFill>
                  <a:srgbClr val="1A1F3D"/>
                </a:solidFill>
                <a:latin typeface="Calibri" pitchFamily="34" charset="0"/>
                <a:ea typeface="Calibri" pitchFamily="34" charset="-122"/>
                <a:cs typeface="Calibri" pitchFamily="34" charset="-120"/>
              </a:rPr>
              <a:t>Germany Müşterileri</a:t>
            </a:r>
            <a:endParaRPr lang="en-US" sz="1200" dirty="0"/>
          </a:p>
        </p:txBody>
      </p:sp>
      <p:sp>
        <p:nvSpPr>
          <p:cNvPr id="14" name="Text 12"/>
          <p:cNvSpPr/>
          <p:nvPr/>
        </p:nvSpPr>
        <p:spPr>
          <a:xfrm>
            <a:off x="4572000" y="1874520"/>
            <a:ext cx="1188720" cy="32004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Ülke bazında en riskli grup</a:t>
            </a:r>
            <a:endParaRPr lang="en-US" sz="1000" dirty="0"/>
          </a:p>
        </p:txBody>
      </p:sp>
      <p:sp>
        <p:nvSpPr>
          <p:cNvPr id="15" name="Text 13"/>
          <p:cNvSpPr/>
          <p:nvPr/>
        </p:nvSpPr>
        <p:spPr>
          <a:xfrm>
            <a:off x="3429000" y="2194560"/>
            <a:ext cx="914400"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churn</a:t>
            </a:r>
            <a:endParaRPr lang="en-US" sz="1000" dirty="0"/>
          </a:p>
        </p:txBody>
      </p:sp>
      <p:sp>
        <p:nvSpPr>
          <p:cNvPr id="16" name="Shape 14"/>
          <p:cNvSpPr/>
          <p:nvPr/>
        </p:nvSpPr>
        <p:spPr>
          <a:xfrm>
            <a:off x="6126480" y="1325880"/>
            <a:ext cx="2606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7" name="Shape 15"/>
          <p:cNvSpPr/>
          <p:nvPr/>
        </p:nvSpPr>
        <p:spPr>
          <a:xfrm>
            <a:off x="6126480" y="1325880"/>
            <a:ext cx="2606040" cy="54864"/>
          </a:xfrm>
          <a:prstGeom prst="rect">
            <a:avLst/>
          </a:prstGeom>
          <a:solidFill>
            <a:srgbClr val="F59E0B"/>
          </a:solidFill>
          <a:ln/>
        </p:spPr>
        <p:txBody>
          <a:bodyPr/>
          <a:lstStyle/>
          <a:p>
            <a:endParaRPr lang="en-US" dirty="0"/>
          </a:p>
        </p:txBody>
      </p:sp>
      <p:sp>
        <p:nvSpPr>
          <p:cNvPr id="18" name="Text 16"/>
          <p:cNvSpPr/>
          <p:nvPr/>
        </p:nvSpPr>
        <p:spPr>
          <a:xfrm>
            <a:off x="6263640" y="1463040"/>
            <a:ext cx="1188720" cy="731520"/>
          </a:xfrm>
          <a:prstGeom prst="rect">
            <a:avLst/>
          </a:prstGeom>
          <a:noFill/>
          <a:ln/>
        </p:spPr>
        <p:txBody>
          <a:bodyPr wrap="square" lIns="0" tIns="0" rIns="0" bIns="0" rtlCol="0" anchor="ctr"/>
          <a:lstStyle/>
          <a:p>
            <a:pPr marL="0" indent="0">
              <a:buNone/>
            </a:pPr>
            <a:r>
              <a:rPr lang="en-US" sz="3600" b="1" dirty="0">
                <a:solidFill>
                  <a:srgbClr val="F59E0B"/>
                </a:solidFill>
                <a:latin typeface="Calibri" pitchFamily="34" charset="0"/>
                <a:ea typeface="Calibri" pitchFamily="34" charset="-122"/>
                <a:cs typeface="Calibri" pitchFamily="34" charset="-120"/>
              </a:rPr>
              <a:t>%27</a:t>
            </a:r>
            <a:endParaRPr lang="en-US" sz="3600" dirty="0"/>
          </a:p>
        </p:txBody>
      </p:sp>
      <p:sp>
        <p:nvSpPr>
          <p:cNvPr id="19" name="Text 17"/>
          <p:cNvSpPr/>
          <p:nvPr/>
        </p:nvSpPr>
        <p:spPr>
          <a:xfrm>
            <a:off x="7406640" y="1463040"/>
            <a:ext cx="1188720" cy="411480"/>
          </a:xfrm>
          <a:prstGeom prst="rect">
            <a:avLst/>
          </a:prstGeom>
          <a:noFill/>
          <a:ln/>
        </p:spPr>
        <p:txBody>
          <a:bodyPr wrap="square" lIns="0" tIns="0" rIns="0" bIns="0" rtlCol="0" anchor="ctr"/>
          <a:lstStyle/>
          <a:p>
            <a:pPr marL="0" indent="0">
              <a:buNone/>
            </a:pPr>
            <a:r>
              <a:rPr lang="en-US" sz="1200" b="1" dirty="0">
                <a:solidFill>
                  <a:srgbClr val="1A1F3D"/>
                </a:solidFill>
                <a:latin typeface="Calibri" pitchFamily="34" charset="0"/>
                <a:ea typeface="Calibri" pitchFamily="34" charset="-122"/>
                <a:cs typeface="Calibri" pitchFamily="34" charset="-120"/>
              </a:rPr>
              <a:t>Pasif Müşteriler</a:t>
            </a:r>
            <a:endParaRPr lang="en-US" sz="1200" dirty="0"/>
          </a:p>
        </p:txBody>
      </p:sp>
      <p:sp>
        <p:nvSpPr>
          <p:cNvPr id="20" name="Text 18"/>
          <p:cNvSpPr/>
          <p:nvPr/>
        </p:nvSpPr>
        <p:spPr>
          <a:xfrm>
            <a:off x="7406640" y="1874520"/>
            <a:ext cx="1188720" cy="32004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Aktiflik eksikliği riski</a:t>
            </a:r>
            <a:endParaRPr lang="en-US" sz="1000" dirty="0"/>
          </a:p>
        </p:txBody>
      </p:sp>
      <p:sp>
        <p:nvSpPr>
          <p:cNvPr id="21" name="Text 19"/>
          <p:cNvSpPr/>
          <p:nvPr/>
        </p:nvSpPr>
        <p:spPr>
          <a:xfrm>
            <a:off x="6263640" y="2194560"/>
            <a:ext cx="914400"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churn</a:t>
            </a:r>
            <a:endParaRPr lang="en-US" sz="1000" dirty="0"/>
          </a:p>
        </p:txBody>
      </p:sp>
      <p:sp>
        <p:nvSpPr>
          <p:cNvPr id="22" name="Shape 20"/>
          <p:cNvSpPr/>
          <p:nvPr/>
        </p:nvSpPr>
        <p:spPr>
          <a:xfrm>
            <a:off x="457200" y="2926080"/>
            <a:ext cx="2606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3" name="Shape 21"/>
          <p:cNvSpPr/>
          <p:nvPr/>
        </p:nvSpPr>
        <p:spPr>
          <a:xfrm>
            <a:off x="457200" y="2926080"/>
            <a:ext cx="2606040" cy="54864"/>
          </a:xfrm>
          <a:prstGeom prst="rect">
            <a:avLst/>
          </a:prstGeom>
          <a:solidFill>
            <a:srgbClr val="F59E0B"/>
          </a:solidFill>
          <a:ln/>
        </p:spPr>
        <p:txBody>
          <a:bodyPr/>
          <a:lstStyle/>
          <a:p>
            <a:endParaRPr lang="en-US" dirty="0"/>
          </a:p>
        </p:txBody>
      </p:sp>
      <p:sp>
        <p:nvSpPr>
          <p:cNvPr id="24" name="Text 22"/>
          <p:cNvSpPr/>
          <p:nvPr/>
        </p:nvSpPr>
        <p:spPr>
          <a:xfrm>
            <a:off x="594360" y="3063240"/>
            <a:ext cx="1188720" cy="731520"/>
          </a:xfrm>
          <a:prstGeom prst="rect">
            <a:avLst/>
          </a:prstGeom>
          <a:noFill/>
          <a:ln/>
        </p:spPr>
        <p:txBody>
          <a:bodyPr wrap="square" lIns="0" tIns="0" rIns="0" bIns="0" rtlCol="0" anchor="ctr"/>
          <a:lstStyle/>
          <a:p>
            <a:pPr marL="0" indent="0">
              <a:buNone/>
            </a:pPr>
            <a:r>
              <a:rPr lang="en-US" sz="3600" b="1" dirty="0">
                <a:solidFill>
                  <a:srgbClr val="F59E0B"/>
                </a:solidFill>
                <a:latin typeface="Calibri" pitchFamily="34" charset="0"/>
                <a:ea typeface="Calibri" pitchFamily="34" charset="-122"/>
                <a:cs typeface="Calibri" pitchFamily="34" charset="-120"/>
              </a:rPr>
              <a:t>%27</a:t>
            </a:r>
            <a:endParaRPr lang="en-US" sz="3600" dirty="0"/>
          </a:p>
        </p:txBody>
      </p:sp>
      <p:sp>
        <p:nvSpPr>
          <p:cNvPr id="25" name="Text 23"/>
          <p:cNvSpPr/>
          <p:nvPr/>
        </p:nvSpPr>
        <p:spPr>
          <a:xfrm>
            <a:off x="1737360" y="3063240"/>
            <a:ext cx="1188720" cy="411480"/>
          </a:xfrm>
          <a:prstGeom prst="rect">
            <a:avLst/>
          </a:prstGeom>
          <a:noFill/>
          <a:ln/>
        </p:spPr>
        <p:txBody>
          <a:bodyPr wrap="square" lIns="0" tIns="0" rIns="0" bIns="0" rtlCol="0" anchor="ctr"/>
          <a:lstStyle/>
          <a:p>
            <a:pPr marL="0" indent="0">
              <a:buNone/>
            </a:pPr>
            <a:r>
              <a:rPr lang="en-US" sz="1200" b="1" dirty="0">
                <a:solidFill>
                  <a:srgbClr val="1A1F3D"/>
                </a:solidFill>
                <a:latin typeface="Calibri" pitchFamily="34" charset="0"/>
                <a:ea typeface="Calibri" pitchFamily="34" charset="-122"/>
                <a:cs typeface="Calibri" pitchFamily="34" charset="-120"/>
              </a:rPr>
              <a:t>1 Ürün Kullananlar</a:t>
            </a:r>
            <a:endParaRPr lang="en-US" sz="1200" dirty="0"/>
          </a:p>
        </p:txBody>
      </p:sp>
      <p:sp>
        <p:nvSpPr>
          <p:cNvPr id="26" name="Text 24"/>
          <p:cNvSpPr/>
          <p:nvPr/>
        </p:nvSpPr>
        <p:spPr>
          <a:xfrm>
            <a:off x="1737360" y="3474720"/>
            <a:ext cx="1188720" cy="32004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Düşük bağlılık seviyesi</a:t>
            </a:r>
            <a:endParaRPr lang="en-US" sz="1000" dirty="0"/>
          </a:p>
        </p:txBody>
      </p:sp>
      <p:sp>
        <p:nvSpPr>
          <p:cNvPr id="27" name="Text 25"/>
          <p:cNvSpPr/>
          <p:nvPr/>
        </p:nvSpPr>
        <p:spPr>
          <a:xfrm>
            <a:off x="594360" y="3794760"/>
            <a:ext cx="914400"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churn</a:t>
            </a:r>
            <a:endParaRPr lang="en-US" sz="1000" dirty="0"/>
          </a:p>
        </p:txBody>
      </p:sp>
      <p:sp>
        <p:nvSpPr>
          <p:cNvPr id="28" name="Shape 26"/>
          <p:cNvSpPr/>
          <p:nvPr/>
        </p:nvSpPr>
        <p:spPr>
          <a:xfrm>
            <a:off x="3291840" y="2926080"/>
            <a:ext cx="2606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9" name="Shape 27"/>
          <p:cNvSpPr/>
          <p:nvPr/>
        </p:nvSpPr>
        <p:spPr>
          <a:xfrm>
            <a:off x="3291840" y="2926080"/>
            <a:ext cx="2606040" cy="54864"/>
          </a:xfrm>
          <a:prstGeom prst="rect">
            <a:avLst/>
          </a:prstGeom>
          <a:solidFill>
            <a:srgbClr val="F59E0B"/>
          </a:solidFill>
          <a:ln/>
        </p:spPr>
        <p:txBody>
          <a:bodyPr/>
          <a:lstStyle/>
          <a:p>
            <a:endParaRPr lang="en-US" dirty="0"/>
          </a:p>
        </p:txBody>
      </p:sp>
      <p:sp>
        <p:nvSpPr>
          <p:cNvPr id="30" name="Text 28"/>
          <p:cNvSpPr/>
          <p:nvPr/>
        </p:nvSpPr>
        <p:spPr>
          <a:xfrm>
            <a:off x="3429000" y="3063240"/>
            <a:ext cx="1188720" cy="731520"/>
          </a:xfrm>
          <a:prstGeom prst="rect">
            <a:avLst/>
          </a:prstGeom>
          <a:noFill/>
          <a:ln/>
        </p:spPr>
        <p:txBody>
          <a:bodyPr wrap="square" lIns="0" tIns="0" rIns="0" bIns="0" rtlCol="0" anchor="ctr"/>
          <a:lstStyle/>
          <a:p>
            <a:pPr marL="0" indent="0">
              <a:buNone/>
            </a:pPr>
            <a:r>
              <a:rPr lang="en-US" sz="3600" b="1" dirty="0">
                <a:solidFill>
                  <a:srgbClr val="F59E0B"/>
                </a:solidFill>
                <a:latin typeface="Calibri" pitchFamily="34" charset="0"/>
                <a:ea typeface="Calibri" pitchFamily="34" charset="-122"/>
                <a:cs typeface="Calibri" pitchFamily="34" charset="-120"/>
              </a:rPr>
              <a:t>%25</a:t>
            </a:r>
            <a:endParaRPr lang="en-US" sz="3600" dirty="0"/>
          </a:p>
        </p:txBody>
      </p:sp>
      <p:sp>
        <p:nvSpPr>
          <p:cNvPr id="31" name="Text 29"/>
          <p:cNvSpPr/>
          <p:nvPr/>
        </p:nvSpPr>
        <p:spPr>
          <a:xfrm>
            <a:off x="4572000" y="3063240"/>
            <a:ext cx="1188720" cy="411480"/>
          </a:xfrm>
          <a:prstGeom prst="rect">
            <a:avLst/>
          </a:prstGeom>
          <a:noFill/>
          <a:ln/>
        </p:spPr>
        <p:txBody>
          <a:bodyPr wrap="square" lIns="0" tIns="0" rIns="0" bIns="0" rtlCol="0" anchor="ctr"/>
          <a:lstStyle/>
          <a:p>
            <a:pPr marL="0" indent="0">
              <a:buNone/>
            </a:pPr>
            <a:r>
              <a:rPr lang="en-US" sz="1200" b="1" dirty="0">
                <a:solidFill>
                  <a:srgbClr val="1A1F3D"/>
                </a:solidFill>
                <a:latin typeface="Calibri" pitchFamily="34" charset="0"/>
                <a:ea typeface="Calibri" pitchFamily="34" charset="-122"/>
                <a:cs typeface="Calibri" pitchFamily="34" charset="-120"/>
              </a:rPr>
              <a:t>Yüksek Bakiyeli</a:t>
            </a:r>
            <a:endParaRPr lang="en-US" sz="1200" dirty="0"/>
          </a:p>
        </p:txBody>
      </p:sp>
      <p:sp>
        <p:nvSpPr>
          <p:cNvPr id="32" name="Text 30"/>
          <p:cNvSpPr/>
          <p:nvPr/>
        </p:nvSpPr>
        <p:spPr>
          <a:xfrm>
            <a:off x="4572000" y="3474720"/>
            <a:ext cx="1188720" cy="32004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Finansal değeri yüksek risk</a:t>
            </a:r>
            <a:endParaRPr lang="en-US" sz="1000" dirty="0"/>
          </a:p>
        </p:txBody>
      </p:sp>
      <p:sp>
        <p:nvSpPr>
          <p:cNvPr id="33" name="Text 31"/>
          <p:cNvSpPr/>
          <p:nvPr/>
        </p:nvSpPr>
        <p:spPr>
          <a:xfrm>
            <a:off x="3429000" y="3794760"/>
            <a:ext cx="914400"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churn</a:t>
            </a:r>
            <a:endParaRPr lang="en-US" sz="1000" dirty="0"/>
          </a:p>
        </p:txBody>
      </p:sp>
      <p:sp>
        <p:nvSpPr>
          <p:cNvPr id="34" name="Shape 32"/>
          <p:cNvSpPr/>
          <p:nvPr/>
        </p:nvSpPr>
        <p:spPr>
          <a:xfrm>
            <a:off x="457200" y="4434840"/>
            <a:ext cx="8229600" cy="457200"/>
          </a:xfrm>
          <a:prstGeom prst="rect">
            <a:avLst/>
          </a:prstGeom>
          <a:solidFill>
            <a:srgbClr val="1A1F3D"/>
          </a:solidFill>
          <a:ln/>
        </p:spPr>
        <p:txBody>
          <a:bodyPr/>
          <a:lstStyle/>
          <a:p>
            <a:endParaRPr lang="en-US" dirty="0"/>
          </a:p>
        </p:txBody>
      </p:sp>
      <p:sp>
        <p:nvSpPr>
          <p:cNvPr id="35" name="Text 33"/>
          <p:cNvSpPr/>
          <p:nvPr/>
        </p:nvSpPr>
        <p:spPr>
          <a:xfrm>
            <a:off x="457200" y="4434840"/>
            <a:ext cx="8229600" cy="45720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Genel Churn Oranı: %20.4  —  Yukarıdaki tüm segmentler bu ortalamanın üzerinde risk taşımaktadır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600" b="1" dirty="0">
                <a:solidFill>
                  <a:srgbClr val="1A1F3D"/>
                </a:solidFill>
                <a:latin typeface="Calibri" pitchFamily="34" charset="0"/>
                <a:ea typeface="Calibri" pitchFamily="34" charset="-122"/>
                <a:cs typeface="Calibri" pitchFamily="34" charset="-120"/>
              </a:rPr>
              <a:t>Veri Hazırlama ve Modelleme Yaklaşımı</a:t>
            </a:r>
            <a:endParaRPr lang="en-US" sz="2600" dirty="0"/>
          </a:p>
        </p:txBody>
      </p:sp>
      <p:sp>
        <p:nvSpPr>
          <p:cNvPr id="3" name="Shape 1"/>
          <p:cNvSpPr/>
          <p:nvPr/>
        </p:nvSpPr>
        <p:spPr>
          <a:xfrm>
            <a:off x="457200" y="1005840"/>
            <a:ext cx="192024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457200" y="1005840"/>
            <a:ext cx="1920240" cy="54864"/>
          </a:xfrm>
          <a:prstGeom prst="rect">
            <a:avLst/>
          </a:prstGeom>
          <a:solidFill>
            <a:srgbClr val="4A6CF7"/>
          </a:solidFill>
          <a:ln/>
        </p:spPr>
        <p:txBody>
          <a:bodyPr/>
          <a:lstStyle/>
          <a:p>
            <a:endParaRPr lang="en-US" dirty="0"/>
          </a:p>
        </p:txBody>
      </p:sp>
      <p:sp>
        <p:nvSpPr>
          <p:cNvPr id="5" name="Shape 3"/>
          <p:cNvSpPr/>
          <p:nvPr/>
        </p:nvSpPr>
        <p:spPr>
          <a:xfrm>
            <a:off x="1188720" y="1143000"/>
            <a:ext cx="457200" cy="457200"/>
          </a:xfrm>
          <a:prstGeom prst="ellipse">
            <a:avLst/>
          </a:prstGeom>
          <a:solidFill>
            <a:srgbClr val="4A6CF7"/>
          </a:solidFill>
          <a:ln/>
        </p:spPr>
        <p:txBody>
          <a:bodyPr/>
          <a:lstStyle/>
          <a:p>
            <a:endParaRPr lang="en-US" dirty="0"/>
          </a:p>
        </p:txBody>
      </p:sp>
      <p:sp>
        <p:nvSpPr>
          <p:cNvPr id="6" name="Text 4"/>
          <p:cNvSpPr/>
          <p:nvPr/>
        </p:nvSpPr>
        <p:spPr>
          <a:xfrm>
            <a:off x="1188720"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548640" y="1691640"/>
            <a:ext cx="1737360" cy="274320"/>
          </a:xfrm>
          <a:prstGeom prst="rect">
            <a:avLst/>
          </a:prstGeom>
          <a:noFill/>
          <a:ln/>
        </p:spPr>
        <p:txBody>
          <a:bodyPr wrap="square" lIns="0" tIns="0" rIns="0" bIns="0" rtlCol="0" anchor="ctr"/>
          <a:lstStyle/>
          <a:p>
            <a:pPr marL="0" indent="0" algn="ctr">
              <a:buNone/>
            </a:pPr>
            <a:r>
              <a:rPr lang="en-US" sz="1300" b="1" dirty="0">
                <a:solidFill>
                  <a:srgbClr val="1A1F3D"/>
                </a:solidFill>
                <a:latin typeface="Calibri" pitchFamily="34" charset="0"/>
                <a:ea typeface="Calibri" pitchFamily="34" charset="-122"/>
                <a:cs typeface="Calibri" pitchFamily="34" charset="-120"/>
              </a:rPr>
              <a:t>EDA Analizi</a:t>
            </a:r>
            <a:endParaRPr lang="en-US" sz="1300" dirty="0"/>
          </a:p>
        </p:txBody>
      </p:sp>
      <p:sp>
        <p:nvSpPr>
          <p:cNvPr id="8" name="Text 6"/>
          <p:cNvSpPr/>
          <p:nvPr/>
        </p:nvSpPr>
        <p:spPr>
          <a:xfrm>
            <a:off x="548640" y="1965960"/>
            <a:ext cx="1737360" cy="45720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Churn ile ilişkili</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değişkenlerin tespiti</a:t>
            </a:r>
            <a:endParaRPr lang="en-US" sz="1000" dirty="0"/>
          </a:p>
        </p:txBody>
      </p:sp>
      <p:sp>
        <p:nvSpPr>
          <p:cNvPr id="9" name="Text 7"/>
          <p:cNvSpPr/>
          <p:nvPr/>
        </p:nvSpPr>
        <p:spPr>
          <a:xfrm>
            <a:off x="2377440" y="1463040"/>
            <a:ext cx="228600" cy="365760"/>
          </a:xfrm>
          <a:prstGeom prst="rect">
            <a:avLst/>
          </a:prstGeom>
          <a:noFill/>
          <a:ln/>
        </p:spPr>
        <p:txBody>
          <a:bodyPr wrap="square" lIns="0" tIns="0" rIns="0" bIns="0" rtlCol="0" anchor="ctr"/>
          <a:lstStyle/>
          <a:p>
            <a:pPr marL="0" indent="0" algn="ctr">
              <a:buNone/>
            </a:pPr>
            <a:r>
              <a:rPr lang="en-US" sz="1800" dirty="0">
                <a:solidFill>
                  <a:srgbClr val="9CA3AF"/>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606040" y="1005840"/>
            <a:ext cx="192024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1" name="Shape 9"/>
          <p:cNvSpPr/>
          <p:nvPr/>
        </p:nvSpPr>
        <p:spPr>
          <a:xfrm>
            <a:off x="2606040" y="1005840"/>
            <a:ext cx="1920240" cy="54864"/>
          </a:xfrm>
          <a:prstGeom prst="rect">
            <a:avLst/>
          </a:prstGeom>
          <a:solidFill>
            <a:srgbClr val="0EA5A0"/>
          </a:solidFill>
          <a:ln/>
        </p:spPr>
        <p:txBody>
          <a:bodyPr/>
          <a:lstStyle/>
          <a:p>
            <a:endParaRPr lang="en-US" dirty="0"/>
          </a:p>
        </p:txBody>
      </p:sp>
      <p:sp>
        <p:nvSpPr>
          <p:cNvPr id="12" name="Shape 10"/>
          <p:cNvSpPr/>
          <p:nvPr/>
        </p:nvSpPr>
        <p:spPr>
          <a:xfrm>
            <a:off x="3337560" y="1143000"/>
            <a:ext cx="457200" cy="457200"/>
          </a:xfrm>
          <a:prstGeom prst="ellipse">
            <a:avLst/>
          </a:prstGeom>
          <a:solidFill>
            <a:srgbClr val="0EA5A0"/>
          </a:solidFill>
          <a:ln/>
        </p:spPr>
        <p:txBody>
          <a:bodyPr/>
          <a:lstStyle/>
          <a:p>
            <a:endParaRPr lang="en-US" dirty="0"/>
          </a:p>
        </p:txBody>
      </p:sp>
      <p:sp>
        <p:nvSpPr>
          <p:cNvPr id="13" name="Text 11"/>
          <p:cNvSpPr/>
          <p:nvPr/>
        </p:nvSpPr>
        <p:spPr>
          <a:xfrm>
            <a:off x="3337560"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2697480" y="1691640"/>
            <a:ext cx="1737360" cy="274320"/>
          </a:xfrm>
          <a:prstGeom prst="rect">
            <a:avLst/>
          </a:prstGeom>
          <a:noFill/>
          <a:ln/>
        </p:spPr>
        <p:txBody>
          <a:bodyPr wrap="square" lIns="0" tIns="0" rIns="0" bIns="0" rtlCol="0" anchor="ctr"/>
          <a:lstStyle/>
          <a:p>
            <a:pPr marL="0" indent="0" algn="ctr">
              <a:buNone/>
            </a:pPr>
            <a:r>
              <a:rPr lang="en-US" sz="1300" b="1" dirty="0">
                <a:solidFill>
                  <a:srgbClr val="1A1F3D"/>
                </a:solidFill>
                <a:latin typeface="Calibri" pitchFamily="34" charset="0"/>
                <a:ea typeface="Calibri" pitchFamily="34" charset="-122"/>
                <a:cs typeface="Calibri" pitchFamily="34" charset="-120"/>
              </a:rPr>
              <a:t>Model 1</a:t>
            </a:r>
            <a:endParaRPr lang="en-US" sz="1300" dirty="0"/>
          </a:p>
        </p:txBody>
      </p:sp>
      <p:sp>
        <p:nvSpPr>
          <p:cNvPr id="15" name="Text 13"/>
          <p:cNvSpPr/>
          <p:nvPr/>
        </p:nvSpPr>
        <p:spPr>
          <a:xfrm>
            <a:off x="2697480" y="1965960"/>
            <a:ext cx="1737360" cy="45720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Temel değişkenler</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(yaş, bakiye, ülke...)</a:t>
            </a:r>
            <a:endParaRPr lang="en-US" sz="1000" dirty="0"/>
          </a:p>
        </p:txBody>
      </p:sp>
      <p:sp>
        <p:nvSpPr>
          <p:cNvPr id="16" name="Text 14"/>
          <p:cNvSpPr/>
          <p:nvPr/>
        </p:nvSpPr>
        <p:spPr>
          <a:xfrm>
            <a:off x="4526280" y="1463040"/>
            <a:ext cx="228600" cy="365760"/>
          </a:xfrm>
          <a:prstGeom prst="rect">
            <a:avLst/>
          </a:prstGeom>
          <a:noFill/>
          <a:ln/>
        </p:spPr>
        <p:txBody>
          <a:bodyPr wrap="square" lIns="0" tIns="0" rIns="0" bIns="0" rtlCol="0" anchor="ctr"/>
          <a:lstStyle/>
          <a:p>
            <a:pPr marL="0" indent="0" algn="ctr">
              <a:buNone/>
            </a:pPr>
            <a:r>
              <a:rPr lang="en-US" sz="1800" dirty="0">
                <a:solidFill>
                  <a:srgbClr val="9CA3AF"/>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4754880" y="1005840"/>
            <a:ext cx="192024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8" name="Shape 16"/>
          <p:cNvSpPr/>
          <p:nvPr/>
        </p:nvSpPr>
        <p:spPr>
          <a:xfrm>
            <a:off x="4754880" y="1005840"/>
            <a:ext cx="1920240" cy="54864"/>
          </a:xfrm>
          <a:prstGeom prst="rect">
            <a:avLst/>
          </a:prstGeom>
          <a:solidFill>
            <a:srgbClr val="0EA5A0"/>
          </a:solidFill>
          <a:ln/>
        </p:spPr>
        <p:txBody>
          <a:bodyPr/>
          <a:lstStyle/>
          <a:p>
            <a:endParaRPr lang="en-US" dirty="0"/>
          </a:p>
        </p:txBody>
      </p:sp>
      <p:sp>
        <p:nvSpPr>
          <p:cNvPr id="19" name="Shape 17"/>
          <p:cNvSpPr/>
          <p:nvPr/>
        </p:nvSpPr>
        <p:spPr>
          <a:xfrm>
            <a:off x="5486400" y="1143000"/>
            <a:ext cx="457200" cy="457200"/>
          </a:xfrm>
          <a:prstGeom prst="ellipse">
            <a:avLst/>
          </a:prstGeom>
          <a:solidFill>
            <a:srgbClr val="0EA5A0"/>
          </a:solidFill>
          <a:ln/>
        </p:spPr>
        <p:txBody>
          <a:bodyPr/>
          <a:lstStyle/>
          <a:p>
            <a:endParaRPr lang="en-US" dirty="0"/>
          </a:p>
        </p:txBody>
      </p:sp>
      <p:sp>
        <p:nvSpPr>
          <p:cNvPr id="20" name="Text 18"/>
          <p:cNvSpPr/>
          <p:nvPr/>
        </p:nvSpPr>
        <p:spPr>
          <a:xfrm>
            <a:off x="5486400"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4846320" y="1691640"/>
            <a:ext cx="1737360" cy="274320"/>
          </a:xfrm>
          <a:prstGeom prst="rect">
            <a:avLst/>
          </a:prstGeom>
          <a:noFill/>
          <a:ln/>
        </p:spPr>
        <p:txBody>
          <a:bodyPr wrap="square" lIns="0" tIns="0" rIns="0" bIns="0" rtlCol="0" anchor="ctr"/>
          <a:lstStyle/>
          <a:p>
            <a:pPr marL="0" indent="0" algn="ctr">
              <a:buNone/>
            </a:pPr>
            <a:r>
              <a:rPr lang="en-US" sz="1300" b="1" dirty="0">
                <a:solidFill>
                  <a:srgbClr val="1A1F3D"/>
                </a:solidFill>
                <a:latin typeface="Calibri" pitchFamily="34" charset="0"/>
                <a:ea typeface="Calibri" pitchFamily="34" charset="-122"/>
                <a:cs typeface="Calibri" pitchFamily="34" charset="-120"/>
              </a:rPr>
              <a:t>Model 2</a:t>
            </a:r>
            <a:endParaRPr lang="en-US" sz="1300" dirty="0"/>
          </a:p>
        </p:txBody>
      </p:sp>
      <p:sp>
        <p:nvSpPr>
          <p:cNvPr id="22" name="Text 20"/>
          <p:cNvSpPr/>
          <p:nvPr/>
        </p:nvSpPr>
        <p:spPr>
          <a:xfrm>
            <a:off x="4846320" y="1965960"/>
            <a:ext cx="1737360" cy="45720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Tüm değişkenler</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(kapsamlı model)</a:t>
            </a:r>
            <a:endParaRPr lang="en-US" sz="1000" dirty="0"/>
          </a:p>
        </p:txBody>
      </p:sp>
      <p:sp>
        <p:nvSpPr>
          <p:cNvPr id="23" name="Text 21"/>
          <p:cNvSpPr/>
          <p:nvPr/>
        </p:nvSpPr>
        <p:spPr>
          <a:xfrm>
            <a:off x="6675120" y="1463040"/>
            <a:ext cx="228600" cy="365760"/>
          </a:xfrm>
          <a:prstGeom prst="rect">
            <a:avLst/>
          </a:prstGeom>
          <a:noFill/>
          <a:ln/>
        </p:spPr>
        <p:txBody>
          <a:bodyPr wrap="square" lIns="0" tIns="0" rIns="0" bIns="0" rtlCol="0" anchor="ctr"/>
          <a:lstStyle/>
          <a:p>
            <a:pPr marL="0" indent="0" algn="ctr">
              <a:buNone/>
            </a:pPr>
            <a:r>
              <a:rPr lang="en-US" sz="1800" dirty="0">
                <a:solidFill>
                  <a:srgbClr val="9CA3AF"/>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6903720" y="1005840"/>
            <a:ext cx="192024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5" name="Shape 23"/>
          <p:cNvSpPr/>
          <p:nvPr/>
        </p:nvSpPr>
        <p:spPr>
          <a:xfrm>
            <a:off x="6903720" y="1005840"/>
            <a:ext cx="1920240" cy="54864"/>
          </a:xfrm>
          <a:prstGeom prst="rect">
            <a:avLst/>
          </a:prstGeom>
          <a:solidFill>
            <a:srgbClr val="4A6CF7"/>
          </a:solidFill>
          <a:ln/>
        </p:spPr>
        <p:txBody>
          <a:bodyPr/>
          <a:lstStyle/>
          <a:p>
            <a:endParaRPr lang="en-US" dirty="0"/>
          </a:p>
        </p:txBody>
      </p:sp>
      <p:sp>
        <p:nvSpPr>
          <p:cNvPr id="26" name="Shape 24"/>
          <p:cNvSpPr/>
          <p:nvPr/>
        </p:nvSpPr>
        <p:spPr>
          <a:xfrm>
            <a:off x="7635240" y="1143000"/>
            <a:ext cx="457200" cy="457200"/>
          </a:xfrm>
          <a:prstGeom prst="ellipse">
            <a:avLst/>
          </a:prstGeom>
          <a:solidFill>
            <a:srgbClr val="4A6CF7"/>
          </a:solidFill>
          <a:ln/>
        </p:spPr>
        <p:txBody>
          <a:bodyPr/>
          <a:lstStyle/>
          <a:p>
            <a:endParaRPr lang="en-US" dirty="0"/>
          </a:p>
        </p:txBody>
      </p:sp>
      <p:sp>
        <p:nvSpPr>
          <p:cNvPr id="27" name="Text 25"/>
          <p:cNvSpPr/>
          <p:nvPr/>
        </p:nvSpPr>
        <p:spPr>
          <a:xfrm>
            <a:off x="7635240"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8" name="Text 26"/>
          <p:cNvSpPr/>
          <p:nvPr/>
        </p:nvSpPr>
        <p:spPr>
          <a:xfrm>
            <a:off x="6995160" y="1691640"/>
            <a:ext cx="1737360" cy="274320"/>
          </a:xfrm>
          <a:prstGeom prst="rect">
            <a:avLst/>
          </a:prstGeom>
          <a:noFill/>
          <a:ln/>
        </p:spPr>
        <p:txBody>
          <a:bodyPr wrap="square" lIns="0" tIns="0" rIns="0" bIns="0" rtlCol="0" anchor="ctr"/>
          <a:lstStyle/>
          <a:p>
            <a:pPr marL="0" indent="0" algn="ctr">
              <a:buNone/>
            </a:pPr>
            <a:r>
              <a:rPr lang="en-US" sz="1300" b="1" dirty="0">
                <a:solidFill>
                  <a:srgbClr val="1A1F3D"/>
                </a:solidFill>
                <a:latin typeface="Calibri" pitchFamily="34" charset="0"/>
                <a:ea typeface="Calibri" pitchFamily="34" charset="-122"/>
                <a:cs typeface="Calibri" pitchFamily="34" charset="-120"/>
              </a:rPr>
              <a:t>Karşılaştırma</a:t>
            </a:r>
            <a:endParaRPr lang="en-US" sz="1300" dirty="0"/>
          </a:p>
        </p:txBody>
      </p:sp>
      <p:sp>
        <p:nvSpPr>
          <p:cNvPr id="29" name="Text 27"/>
          <p:cNvSpPr/>
          <p:nvPr/>
        </p:nvSpPr>
        <p:spPr>
          <a:xfrm>
            <a:off x="6995160" y="1965960"/>
            <a:ext cx="1737360" cy="45720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Basit vs kapsamlı</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model değerlendirme</a:t>
            </a:r>
            <a:endParaRPr lang="en-US" sz="1000" dirty="0"/>
          </a:p>
        </p:txBody>
      </p:sp>
      <p:sp>
        <p:nvSpPr>
          <p:cNvPr id="30" name="Shape 28"/>
          <p:cNvSpPr/>
          <p:nvPr/>
        </p:nvSpPr>
        <p:spPr>
          <a:xfrm>
            <a:off x="457200" y="2834640"/>
            <a:ext cx="8229600" cy="2011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40080" y="3017520"/>
          <a:ext cx="7863840" cy="1554480"/>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solidFill>
                      <a:srgbClr val="1A1F3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Değişkenler</a:t>
                      </a:r>
                      <a:endParaRPr lang="en-US" sz="12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solidFill>
                      <a:srgbClr val="1A1F3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Yaklaşım</a:t>
                      </a:r>
                      <a:endParaRPr lang="en-US" sz="12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solidFill>
                      <a:srgbClr val="1A1F3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Sonuç</a:t>
                      </a:r>
                      <a:endParaRPr lang="en-US" sz="12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solidFill>
                      <a:srgbClr val="1A1F3D"/>
                    </a:solidFill>
                  </a:tcPr>
                </a:tc>
                <a:extLst>
                  <a:ext uri="{0D108BD9-81ED-4DB2-BD59-A6C34878D82A}">
                    <a16:rowId xmlns:a16="http://schemas.microsoft.com/office/drawing/2014/main" val="10000"/>
                  </a:ext>
                </a:extLst>
              </a:tr>
              <a:tr h="594360">
                <a:tc>
                  <a:txBody>
                    <a:bodyPr/>
                    <a:lstStyle/>
                    <a:p>
                      <a:pPr marL="0" indent="0" algn="ctr">
                        <a:buNone/>
                      </a:pPr>
                      <a:r>
                        <a:rPr lang="en-US" sz="1100" b="1" dirty="0">
                          <a:solidFill>
                            <a:srgbClr val="1A1F3D"/>
                          </a:solidFill>
                          <a:latin typeface="Calibri" pitchFamily="34" charset="0"/>
                          <a:ea typeface="Calibri" pitchFamily="34" charset="-122"/>
                          <a:cs typeface="Calibri" pitchFamily="34" charset="-120"/>
                        </a:rPr>
                        <a:t>Model 1</a:t>
                      </a:r>
                      <a:endParaRPr lang="en-US" sz="11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dirty="0">
                          <a:solidFill>
                            <a:srgbClr val="4B5563"/>
                          </a:solidFill>
                          <a:latin typeface="Calibri" pitchFamily="34" charset="0"/>
                          <a:ea typeface="Calibri" pitchFamily="34" charset="-122"/>
                          <a:cs typeface="Calibri" pitchFamily="34" charset="-120"/>
                        </a:rPr>
                        <a:t>Yaş, Aktiflik, Bakiye,</a:t>
                      </a:r>
                      <a:endParaRPr lang="en-US" sz="1000" dirty="0">
                        <a:latin typeface="Calibri" charset="0"/>
                        <a:ea typeface="Calibri" charset="0"/>
                        <a:cs typeface="Calibri" charset="0"/>
                      </a:endParaRPr>
                    </a:p>
                    <a:p>
                      <a:pPr marL="0" indent="0" algn="ctr">
                        <a:buNone/>
                      </a:pPr>
                      <a:r>
                        <a:rPr lang="en-US" sz="1000" dirty="0">
                          <a:solidFill>
                            <a:srgbClr val="4B5563"/>
                          </a:solidFill>
                          <a:latin typeface="Calibri" pitchFamily="34" charset="0"/>
                          <a:ea typeface="Calibri" pitchFamily="34" charset="-122"/>
                          <a:cs typeface="Calibri" pitchFamily="34" charset="-120"/>
                        </a:rPr>
                        <a:t>Ürün Sayısı, Ülke</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dirty="0">
                          <a:solidFill>
                            <a:srgbClr val="4B5563"/>
                          </a:solidFill>
                          <a:latin typeface="Calibri" pitchFamily="34" charset="0"/>
                          <a:ea typeface="Calibri" pitchFamily="34" charset="-122"/>
                          <a:cs typeface="Calibri" pitchFamily="34" charset="-120"/>
                        </a:rPr>
                        <a:t>EDA'da güçlü ilişki</a:t>
                      </a:r>
                      <a:endParaRPr lang="en-US" sz="1000" dirty="0">
                        <a:latin typeface="Calibri" charset="0"/>
                        <a:ea typeface="Calibri" charset="0"/>
                        <a:cs typeface="Calibri" charset="0"/>
                      </a:endParaRPr>
                    </a:p>
                    <a:p>
                      <a:pPr marL="0" indent="0" algn="ctr">
                        <a:buNone/>
                      </a:pPr>
                      <a:r>
                        <a:rPr lang="en-US" sz="1000" dirty="0">
                          <a:solidFill>
                            <a:srgbClr val="4B5563"/>
                          </a:solidFill>
                          <a:latin typeface="Calibri" pitchFamily="34" charset="0"/>
                          <a:ea typeface="Calibri" pitchFamily="34" charset="-122"/>
                          <a:cs typeface="Calibri" pitchFamily="34" charset="-120"/>
                        </a:rPr>
                        <a:t>gösteren temel değişkenler</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b="1" dirty="0">
                          <a:solidFill>
                            <a:srgbClr val="0EA5A0"/>
                          </a:solidFill>
                          <a:latin typeface="Calibri" pitchFamily="34" charset="0"/>
                          <a:ea typeface="Calibri" pitchFamily="34" charset="-122"/>
                          <a:cs typeface="Calibri" pitchFamily="34" charset="-120"/>
                        </a:rPr>
                        <a:t>Sade, açıklanabilir</a:t>
                      </a:r>
                      <a:endParaRPr lang="en-US" sz="1000" dirty="0">
                        <a:latin typeface="Calibri" charset="0"/>
                        <a:ea typeface="Calibri" charset="0"/>
                        <a:cs typeface="Calibri" charset="0"/>
                      </a:endParaRPr>
                    </a:p>
                    <a:p>
                      <a:pPr marL="0" indent="0" algn="ctr">
                        <a:buNone/>
                      </a:pPr>
                      <a:r>
                        <a:rPr lang="en-US" sz="1000" b="1" dirty="0">
                          <a:solidFill>
                            <a:srgbClr val="0EA5A0"/>
                          </a:solidFill>
                          <a:latin typeface="Calibri" pitchFamily="34" charset="0"/>
                          <a:ea typeface="Calibri" pitchFamily="34" charset="-122"/>
                          <a:cs typeface="Calibri" pitchFamily="34" charset="-120"/>
                        </a:rPr>
                        <a:t>Yeterli performans ✓</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lgn="ctr">
                        <a:buNone/>
                      </a:pPr>
                      <a:r>
                        <a:rPr lang="en-US" sz="1100" b="1" dirty="0">
                          <a:solidFill>
                            <a:srgbClr val="1A1F3D"/>
                          </a:solidFill>
                          <a:latin typeface="Calibri" pitchFamily="34" charset="0"/>
                          <a:ea typeface="Calibri" pitchFamily="34" charset="-122"/>
                          <a:cs typeface="Calibri" pitchFamily="34" charset="-120"/>
                        </a:rPr>
                        <a:t>Model 2</a:t>
                      </a:r>
                      <a:endParaRPr lang="en-US" sz="11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dirty="0">
                          <a:solidFill>
                            <a:srgbClr val="4B5563"/>
                          </a:solidFill>
                          <a:latin typeface="Calibri" pitchFamily="34" charset="0"/>
                          <a:ea typeface="Calibri" pitchFamily="34" charset="-122"/>
                          <a:cs typeface="Calibri" pitchFamily="34" charset="-120"/>
                        </a:rPr>
                        <a:t>Tüm temel değişkenler</a:t>
                      </a:r>
                      <a:endParaRPr lang="en-US" sz="1000" dirty="0">
                        <a:latin typeface="Calibri" charset="0"/>
                        <a:ea typeface="Calibri" charset="0"/>
                        <a:cs typeface="Calibri" charset="0"/>
                      </a:endParaRPr>
                    </a:p>
                    <a:p>
                      <a:pPr marL="0" indent="0" algn="ctr">
                        <a:buNone/>
                      </a:pPr>
                      <a:r>
                        <a:rPr lang="en-US" sz="1000" dirty="0">
                          <a:solidFill>
                            <a:srgbClr val="4B5563"/>
                          </a:solidFill>
                          <a:latin typeface="Calibri" pitchFamily="34" charset="0"/>
                          <a:ea typeface="Calibri" pitchFamily="34" charset="-122"/>
                          <a:cs typeface="Calibri" pitchFamily="34" charset="-120"/>
                        </a:rPr>
                        <a:t>(ID ve hedef hariç)</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dirty="0">
                          <a:solidFill>
                            <a:srgbClr val="4B5563"/>
                          </a:solidFill>
                          <a:latin typeface="Calibri" pitchFamily="34" charset="0"/>
                          <a:ea typeface="Calibri" pitchFamily="34" charset="-122"/>
                          <a:cs typeface="Calibri" pitchFamily="34" charset="-120"/>
                        </a:rPr>
                        <a:t>Kapsamlı model ile</a:t>
                      </a:r>
                      <a:endParaRPr lang="en-US" sz="1000" dirty="0">
                        <a:latin typeface="Calibri" charset="0"/>
                        <a:ea typeface="Calibri" charset="0"/>
                        <a:cs typeface="Calibri" charset="0"/>
                      </a:endParaRPr>
                    </a:p>
                    <a:p>
                      <a:pPr marL="0" indent="0" algn="ctr">
                        <a:buNone/>
                      </a:pPr>
                      <a:r>
                        <a:rPr lang="en-US" sz="1000" dirty="0">
                          <a:solidFill>
                            <a:srgbClr val="4B5563"/>
                          </a:solidFill>
                          <a:latin typeface="Calibri" pitchFamily="34" charset="0"/>
                          <a:ea typeface="Calibri" pitchFamily="34" charset="-122"/>
                          <a:cs typeface="Calibri" pitchFamily="34" charset="-120"/>
                        </a:rPr>
                        <a:t>performans karşılaştırma</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Karmaşık yapı</a:t>
                      </a:r>
                      <a:endParaRPr lang="en-US" sz="1000" dirty="0">
                        <a:latin typeface="Calibri" charset="0"/>
                        <a:ea typeface="Calibri" charset="0"/>
                        <a:cs typeface="Calibri" charset="0"/>
                      </a:endParaRPr>
                    </a:p>
                    <a:p>
                      <a:pPr marL="0" indent="0" algn="ctr">
                        <a:buNone/>
                      </a:pPr>
                      <a:r>
                        <a:rPr lang="en-US" sz="1000" dirty="0">
                          <a:solidFill>
                            <a:srgbClr val="6B7280"/>
                          </a:solidFill>
                          <a:latin typeface="Calibri" pitchFamily="34" charset="0"/>
                          <a:ea typeface="Calibri" pitchFamily="34" charset="-122"/>
                          <a:cs typeface="Calibri" pitchFamily="34" charset="-120"/>
                        </a:rPr>
                        <a:t>Benzer performans</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A1F3D"/>
                </a:solidFill>
                <a:latin typeface="Calibri" pitchFamily="34" charset="0"/>
                <a:ea typeface="Calibri" pitchFamily="34" charset="-122"/>
                <a:cs typeface="Calibri" pitchFamily="34" charset="-120"/>
              </a:rPr>
              <a:t>ROC Eğrisi ile Model Performans Karşılaştırması</a:t>
            </a:r>
            <a:endParaRPr lang="en-US" sz="2400" dirty="0"/>
          </a:p>
        </p:txBody>
      </p:sp>
      <p:pic>
        <p:nvPicPr>
          <p:cNvPr id="3" name="Image 0" descr="/home/claude/pptx_images/image14.png"/>
          <p:cNvPicPr>
            <a:picLocks noChangeAspect="1"/>
          </p:cNvPicPr>
          <p:nvPr/>
        </p:nvPicPr>
        <p:blipFill>
          <a:blip r:embed="rId3"/>
          <a:srcRect/>
          <a:stretch/>
        </p:blipFill>
        <p:spPr>
          <a:xfrm>
            <a:off x="274320" y="914400"/>
            <a:ext cx="5029200" cy="3474720"/>
          </a:xfrm>
          <a:prstGeom prst="rect">
            <a:avLst/>
          </a:prstGeom>
        </p:spPr>
      </p:pic>
      <p:sp>
        <p:nvSpPr>
          <p:cNvPr id="4" name="Shape 1"/>
          <p:cNvSpPr/>
          <p:nvPr/>
        </p:nvSpPr>
        <p:spPr>
          <a:xfrm>
            <a:off x="5486400" y="914400"/>
            <a:ext cx="3383280" cy="2286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486400" y="914400"/>
            <a:ext cx="54864" cy="2286000"/>
          </a:xfrm>
          <a:prstGeom prst="rect">
            <a:avLst/>
          </a:prstGeom>
          <a:solidFill>
            <a:srgbClr val="4A6CF7"/>
          </a:solidFill>
          <a:ln/>
        </p:spPr>
        <p:txBody>
          <a:bodyPr/>
          <a:lstStyle/>
          <a:p>
            <a:endParaRPr lang="en-US" dirty="0"/>
          </a:p>
        </p:txBody>
      </p:sp>
      <p:sp>
        <p:nvSpPr>
          <p:cNvPr id="6" name="Text 3"/>
          <p:cNvSpPr/>
          <p:nvPr/>
        </p:nvSpPr>
        <p:spPr>
          <a:xfrm>
            <a:off x="5715000" y="1051560"/>
            <a:ext cx="3017520" cy="2011680"/>
          </a:xfrm>
          <a:prstGeom prst="rect">
            <a:avLst/>
          </a:prstGeom>
          <a:noFill/>
          <a:ln/>
        </p:spPr>
        <p:txBody>
          <a:bodyPr wrap="square" rtlCol="0" anchor="t"/>
          <a:lstStyle/>
          <a:p>
            <a:pPr marL="0" indent="0">
              <a:buNone/>
            </a:pPr>
            <a:r>
              <a:rPr lang="en-US" sz="1400" b="1" dirty="0">
                <a:solidFill>
                  <a:srgbClr val="1A1F3D"/>
                </a:solidFill>
                <a:latin typeface="Calibri" pitchFamily="34" charset="0"/>
                <a:ea typeface="Calibri" pitchFamily="34" charset="-122"/>
                <a:cs typeface="Calibri" pitchFamily="34" charset="-120"/>
              </a:rPr>
              <a:t>Sonuç</a:t>
            </a:r>
            <a:endParaRPr lang="en-US" sz="1400" dirty="0"/>
          </a:p>
          <a:p>
            <a:pPr marL="0" indent="0">
              <a:buNone/>
            </a:pPr>
            <a:endParaRPr lang="en-US" sz="1400" dirty="0"/>
          </a:p>
          <a:p>
            <a:pPr marL="0" indent="0">
              <a:buNone/>
            </a:pPr>
            <a:r>
              <a:rPr lang="en-US" sz="1100" dirty="0">
                <a:solidFill>
                  <a:srgbClr val="4B5563"/>
                </a:solidFill>
                <a:latin typeface="Calibri" pitchFamily="34" charset="0"/>
                <a:ea typeface="Calibri" pitchFamily="34" charset="-122"/>
                <a:cs typeface="Calibri" pitchFamily="34" charset="-120"/>
              </a:rPr>
              <a:t>İki modelin müşteri ayrılma davranışını ayırt etme başarıları birbirine oldukça yakındır.</a:t>
            </a:r>
            <a:endParaRPr lang="en-US" sz="1400" dirty="0"/>
          </a:p>
          <a:p>
            <a:pPr marL="0" indent="0">
              <a:buNone/>
            </a:pPr>
            <a:endParaRPr lang="en-US" sz="1400" dirty="0"/>
          </a:p>
          <a:p>
            <a:pPr marL="0" indent="0">
              <a:buNone/>
            </a:pPr>
            <a:r>
              <a:rPr lang="en-US" sz="1100" dirty="0">
                <a:solidFill>
                  <a:srgbClr val="4B5563"/>
                </a:solidFill>
                <a:latin typeface="Calibri" pitchFamily="34" charset="0"/>
                <a:ea typeface="Calibri" pitchFamily="34" charset="-122"/>
                <a:cs typeface="Calibri" pitchFamily="34" charset="-120"/>
              </a:rPr>
              <a:t>Daha az değişkenle kurulan Model 1 yeterli performansı sağlamaktadır.</a:t>
            </a:r>
            <a:endParaRPr lang="en-US" sz="1400" dirty="0"/>
          </a:p>
          <a:p>
            <a:pPr marL="0" indent="0">
              <a:buNone/>
            </a:pPr>
            <a:endParaRPr lang="en-US" sz="1400" dirty="0"/>
          </a:p>
          <a:p>
            <a:pPr marL="0" indent="0">
              <a:buNone/>
            </a:pPr>
            <a:r>
              <a:rPr lang="en-US" sz="1100" b="1" dirty="0">
                <a:solidFill>
                  <a:srgbClr val="0EA5A0"/>
                </a:solidFill>
                <a:latin typeface="Calibri" pitchFamily="34" charset="0"/>
                <a:ea typeface="Calibri" pitchFamily="34" charset="-122"/>
                <a:cs typeface="Calibri" pitchFamily="34" charset="-120"/>
              </a:rPr>
              <a:t>Sade ve açıklanabilir yapı tercih edilebilir.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Model Karşılaştırması</a:t>
            </a:r>
            <a:endParaRPr lang="en-US" sz="2800" dirty="0"/>
          </a:p>
        </p:txBody>
      </p:sp>
      <p:pic>
        <p:nvPicPr>
          <p:cNvPr id="3" name="Image 0" descr="/home/claude/pptx_images/image15.png"/>
          <p:cNvPicPr>
            <a:picLocks noChangeAspect="1"/>
          </p:cNvPicPr>
          <p:nvPr/>
        </p:nvPicPr>
        <p:blipFill>
          <a:blip r:embed="rId3"/>
          <a:srcRect/>
          <a:stretch/>
        </p:blipFill>
        <p:spPr>
          <a:xfrm>
            <a:off x="274320" y="1291590"/>
            <a:ext cx="8595360" cy="25603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A1F3D"/>
                </a:solidFill>
                <a:latin typeface="Calibri" pitchFamily="34" charset="0"/>
                <a:ea typeface="Calibri" pitchFamily="34" charset="-122"/>
                <a:cs typeface="Calibri" pitchFamily="34" charset="-120"/>
              </a:rPr>
              <a:t>Confusion Matrix (Model 1 – Threshold 0.40)</a:t>
            </a:r>
            <a:endParaRPr lang="en-US" sz="2400" dirty="0"/>
          </a:p>
        </p:txBody>
      </p:sp>
      <p:pic>
        <p:nvPicPr>
          <p:cNvPr id="3" name="Image 0" descr="/home/claude/pptx_images/image16.png"/>
          <p:cNvPicPr>
            <a:picLocks noChangeAspect="1"/>
          </p:cNvPicPr>
          <p:nvPr/>
        </p:nvPicPr>
        <p:blipFill>
          <a:blip r:embed="rId3"/>
          <a:srcRect b="17705"/>
          <a:stretch>
            <a:fillRect/>
          </a:stretch>
        </p:blipFill>
        <p:spPr>
          <a:xfrm>
            <a:off x="1920239" y="822959"/>
            <a:ext cx="5538913" cy="392012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Değişken Katsayıları Grafiği</a:t>
            </a:r>
            <a:endParaRPr lang="en-US" sz="2800" dirty="0"/>
          </a:p>
        </p:txBody>
      </p:sp>
      <p:pic>
        <p:nvPicPr>
          <p:cNvPr id="3" name="Image 0" descr="/home/claude/pptx_images/image17.png"/>
          <p:cNvPicPr>
            <a:picLocks noChangeAspect="1"/>
          </p:cNvPicPr>
          <p:nvPr/>
        </p:nvPicPr>
        <p:blipFill>
          <a:blip r:embed="rId3"/>
          <a:srcRect/>
          <a:stretch/>
        </p:blipFill>
        <p:spPr>
          <a:xfrm>
            <a:off x="274320" y="914400"/>
            <a:ext cx="5029200" cy="3200400"/>
          </a:xfrm>
          <a:prstGeom prst="rect">
            <a:avLst/>
          </a:prstGeom>
        </p:spPr>
      </p:pic>
      <p:sp>
        <p:nvSpPr>
          <p:cNvPr id="4" name="Shape 1"/>
          <p:cNvSpPr/>
          <p:nvPr/>
        </p:nvSpPr>
        <p:spPr>
          <a:xfrm>
            <a:off x="5486400" y="914400"/>
            <a:ext cx="3383280"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486400" y="914400"/>
            <a:ext cx="54864" cy="3200400"/>
          </a:xfrm>
          <a:prstGeom prst="rect">
            <a:avLst/>
          </a:prstGeom>
          <a:solidFill>
            <a:srgbClr val="4A6CF7"/>
          </a:solidFill>
          <a:ln/>
        </p:spPr>
        <p:txBody>
          <a:bodyPr/>
          <a:lstStyle/>
          <a:p>
            <a:endParaRPr lang="en-US" dirty="0"/>
          </a:p>
        </p:txBody>
      </p:sp>
      <p:sp>
        <p:nvSpPr>
          <p:cNvPr id="6" name="Text 3"/>
          <p:cNvSpPr/>
          <p:nvPr/>
        </p:nvSpPr>
        <p:spPr>
          <a:xfrm>
            <a:off x="5715000" y="1051560"/>
            <a:ext cx="3017520" cy="2926080"/>
          </a:xfrm>
          <a:prstGeom prst="rect">
            <a:avLst/>
          </a:prstGeom>
          <a:noFill/>
          <a:ln/>
        </p:spPr>
        <p:txBody>
          <a:bodyPr wrap="square" rtlCol="0" anchor="t"/>
          <a:lstStyle/>
          <a:p>
            <a:pPr marL="0" indent="0">
              <a:buNone/>
            </a:pPr>
            <a:r>
              <a:rPr lang="en-US" sz="1400" b="1" dirty="0">
                <a:solidFill>
                  <a:srgbClr val="1A1F3D"/>
                </a:solidFill>
                <a:latin typeface="Calibri" pitchFamily="34" charset="0"/>
                <a:ea typeface="Calibri" pitchFamily="34" charset="-122"/>
                <a:cs typeface="Calibri" pitchFamily="34" charset="-120"/>
              </a:rPr>
              <a:t>Katsayı Yorumu</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Yaş ve yüksek bakiye churn riskini artırmaktadır.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Müşterinin bankayı aktif kullanması churn riskini azaltmaktadır.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Ülke faktörü (Almanya) churn üzerinde önemli bir etkiye sahiptir.</a:t>
            </a:r>
            <a:endParaRPr lang="en-US" sz="1400" dirty="0"/>
          </a:p>
          <a:p>
            <a:pPr marL="0" indent="0">
              <a:buNone/>
            </a:pPr>
            <a:endParaRPr lang="en-US" sz="1400" dirty="0"/>
          </a:p>
          <a:p>
            <a:pPr marL="342900" indent="-342900">
              <a:buSzPct val="100000"/>
              <a:buChar char="•"/>
            </a:pPr>
            <a:r>
              <a:rPr lang="en-US" sz="1100" b="1" dirty="0">
                <a:solidFill>
                  <a:srgbClr val="0EA5A0"/>
                </a:solidFill>
                <a:latin typeface="Calibri" pitchFamily="34" charset="0"/>
                <a:ea typeface="Calibri" pitchFamily="34" charset="-122"/>
                <a:cs typeface="Calibri" pitchFamily="34" charset="-120"/>
              </a:rPr>
              <a:t>Bulgular EDA sonuçlarıyla tutarlıdır.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A1F3D"/>
                </a:solidFill>
                <a:latin typeface="Calibri" pitchFamily="34" charset="0"/>
                <a:ea typeface="Calibri" pitchFamily="34" charset="-122"/>
                <a:cs typeface="Calibri" pitchFamily="34" charset="-120"/>
              </a:rPr>
              <a:t>Müşteri Risk Segmentasyonu ve Churn Davranışı</a:t>
            </a:r>
            <a:endParaRPr lang="en-US" sz="2400" dirty="0"/>
          </a:p>
        </p:txBody>
      </p:sp>
      <p:sp>
        <p:nvSpPr>
          <p:cNvPr id="4" name="Shape 1"/>
          <p:cNvSpPr/>
          <p:nvPr/>
        </p:nvSpPr>
        <p:spPr>
          <a:xfrm>
            <a:off x="457200" y="3657600"/>
            <a:ext cx="822960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457200" y="3657600"/>
            <a:ext cx="54864" cy="1097280"/>
          </a:xfrm>
          <a:prstGeom prst="rect">
            <a:avLst/>
          </a:prstGeom>
          <a:solidFill>
            <a:srgbClr val="4A6CF7"/>
          </a:solidFill>
          <a:ln/>
        </p:spPr>
        <p:txBody>
          <a:bodyPr/>
          <a:lstStyle/>
          <a:p>
            <a:endParaRPr lang="en-US" dirty="0"/>
          </a:p>
        </p:txBody>
      </p:sp>
      <p:sp>
        <p:nvSpPr>
          <p:cNvPr id="6" name="Text 3"/>
          <p:cNvSpPr/>
          <p:nvPr/>
        </p:nvSpPr>
        <p:spPr>
          <a:xfrm>
            <a:off x="731520" y="3749040"/>
            <a:ext cx="7772400" cy="914400"/>
          </a:xfrm>
          <a:prstGeom prst="rect">
            <a:avLst/>
          </a:prstGeom>
          <a:noFill/>
          <a:ln/>
        </p:spPr>
        <p:txBody>
          <a:bodyPr wrap="square" rtlCol="0" anchor="t"/>
          <a:lstStyle/>
          <a:p>
            <a:pPr marL="0" indent="0">
              <a:buNone/>
            </a:pPr>
            <a:r>
              <a:rPr lang="en-US" sz="1200" dirty="0">
                <a:solidFill>
                  <a:srgbClr val="4B5563"/>
                </a:solidFill>
                <a:latin typeface="Calibri" pitchFamily="34" charset="0"/>
                <a:ea typeface="Calibri" pitchFamily="34" charset="-122"/>
                <a:cs typeface="Calibri" pitchFamily="34" charset="-120"/>
              </a:rPr>
              <a:t>Yüksek risk grubunda churn oranı belirgin şekilde daha yüksektir. Model riskli müşterileri anlamlı şekilde ayırt edebilmektedir.</a:t>
            </a:r>
            <a:endParaRPr lang="en-US" sz="1200" dirty="0"/>
          </a:p>
          <a:p>
            <a:pPr marL="0" indent="0">
              <a:buNone/>
            </a:pPr>
            <a:endParaRPr lang="en-US" sz="1200" dirty="0"/>
          </a:p>
          <a:p>
            <a:pPr marL="0" indent="0">
              <a:buNone/>
            </a:pPr>
            <a:r>
              <a:rPr lang="en-US" sz="1200" dirty="0">
                <a:solidFill>
                  <a:srgbClr val="4B5563"/>
                </a:solidFill>
                <a:latin typeface="Calibri" pitchFamily="34" charset="0"/>
                <a:ea typeface="Calibri" pitchFamily="34" charset="-122"/>
                <a:cs typeface="Calibri" pitchFamily="34" charset="-120"/>
              </a:rPr>
              <a:t>Risk segmentasyonu, bankanın müşteri kaybını önlemeye yönelik aksiyonlarını daha hedefli planlamasına imkân sağlar.</a:t>
            </a:r>
            <a:endParaRPr lang="en-US" sz="1200" dirty="0"/>
          </a:p>
        </p:txBody>
      </p:sp>
      <p:pic>
        <p:nvPicPr>
          <p:cNvPr id="5122" name="Picture 2">
            <a:extLst>
              <a:ext uri="{FF2B5EF4-FFF2-40B4-BE49-F238E27FC236}">
                <a16:creationId xmlns:a16="http://schemas.microsoft.com/office/drawing/2014/main" id="{EEDD9970-5D1E-A708-1A23-BEABED750F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 y="777240"/>
            <a:ext cx="7613354" cy="27889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A1F3D"/>
                </a:solidFill>
                <a:latin typeface="Calibri" pitchFamily="34" charset="0"/>
                <a:ea typeface="Calibri" pitchFamily="34" charset="-122"/>
                <a:cs typeface="Calibri" pitchFamily="34" charset="-120"/>
              </a:rPr>
              <a:t>Risk Segmentlerine Göre Müşteri Davranış Analizi</a:t>
            </a:r>
            <a:endParaRPr lang="en-US" sz="2400" dirty="0"/>
          </a:p>
        </p:txBody>
      </p:sp>
      <p:sp>
        <p:nvSpPr>
          <p:cNvPr id="4" name="Shape 1"/>
          <p:cNvSpPr/>
          <p:nvPr/>
        </p:nvSpPr>
        <p:spPr>
          <a:xfrm>
            <a:off x="5989320" y="1113454"/>
            <a:ext cx="2880360" cy="3053751"/>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934456" y="1113454"/>
            <a:ext cx="54864" cy="3053750"/>
          </a:xfrm>
          <a:prstGeom prst="rect">
            <a:avLst/>
          </a:prstGeom>
          <a:solidFill>
            <a:srgbClr val="0EA5A0"/>
          </a:solidFill>
          <a:ln/>
        </p:spPr>
        <p:txBody>
          <a:bodyPr/>
          <a:lstStyle/>
          <a:p>
            <a:endParaRPr lang="en-US" dirty="0"/>
          </a:p>
        </p:txBody>
      </p:sp>
      <p:sp>
        <p:nvSpPr>
          <p:cNvPr id="6" name="Text 3"/>
          <p:cNvSpPr/>
          <p:nvPr/>
        </p:nvSpPr>
        <p:spPr>
          <a:xfrm>
            <a:off x="5989320" y="1051560"/>
            <a:ext cx="2743200" cy="3177540"/>
          </a:xfrm>
          <a:prstGeom prst="rect">
            <a:avLst/>
          </a:prstGeom>
          <a:noFill/>
          <a:ln/>
        </p:spPr>
        <p:txBody>
          <a:bodyPr wrap="square" rtlCol="0" anchor="t"/>
          <a:lstStyle/>
          <a:p>
            <a:pPr marL="0" indent="0">
              <a:buNone/>
            </a:pPr>
            <a:r>
              <a:rPr lang="en-US" sz="1400" b="1" dirty="0">
                <a:solidFill>
                  <a:srgbClr val="1A1F3D"/>
                </a:solidFill>
                <a:latin typeface="Calibri" pitchFamily="34" charset="0"/>
                <a:ea typeface="Calibri" pitchFamily="34" charset="-122"/>
                <a:cs typeface="Calibri" pitchFamily="34" charset="-120"/>
              </a:rPr>
              <a:t>Temel Bulgular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Risk seviyesi arttıkça müşteri aktifliği azalmaktadır.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Yaş ve ortalama bakiye riskli segmentlerde daha yüksektir.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Yüksek risk grubunda Germany müşteri oranı daha belirgindir.</a:t>
            </a:r>
            <a:endParaRPr lang="en-US" sz="1400" dirty="0"/>
          </a:p>
          <a:p>
            <a:pPr marL="0" indent="0">
              <a:buNone/>
            </a:pPr>
            <a:endParaRPr lang="en-US" sz="1400" dirty="0"/>
          </a:p>
          <a:p>
            <a:pPr marL="342900" indent="-342900">
              <a:buSzPct val="100000"/>
              <a:buChar char="•"/>
            </a:pPr>
            <a:r>
              <a:rPr lang="en-US" sz="1100" b="1" dirty="0">
                <a:solidFill>
                  <a:srgbClr val="0EA5A0"/>
                </a:solidFill>
                <a:latin typeface="Calibri" pitchFamily="34" charset="0"/>
                <a:ea typeface="Calibri" pitchFamily="34" charset="-122"/>
                <a:cs typeface="Calibri" pitchFamily="34" charset="-120"/>
              </a:rPr>
              <a:t>Model segmentasyonu müşteri davranışı ile tutarlıdır.</a:t>
            </a:r>
            <a:endParaRPr lang="en-US" sz="1400" dirty="0"/>
          </a:p>
        </p:txBody>
      </p:sp>
      <p:pic>
        <p:nvPicPr>
          <p:cNvPr id="6146" name="Picture 2">
            <a:extLst>
              <a:ext uri="{FF2B5EF4-FFF2-40B4-BE49-F238E27FC236}">
                <a16:creationId xmlns:a16="http://schemas.microsoft.com/office/drawing/2014/main" id="{3296A708-1EF3-B80B-0B76-E831D2928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68" y="1051560"/>
            <a:ext cx="5586984" cy="32010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A1F3D"/>
                </a:solidFill>
                <a:latin typeface="Calibri" pitchFamily="34" charset="0"/>
                <a:ea typeface="Calibri" pitchFamily="34" charset="-122"/>
                <a:cs typeface="Calibri" pitchFamily="34" charset="-120"/>
              </a:rPr>
              <a:t>Risk Segmentlerine Göre Müşteri Profili</a:t>
            </a:r>
            <a:endParaRPr lang="en-US" sz="2400" dirty="0"/>
          </a:p>
        </p:txBody>
      </p:sp>
      <p:sp>
        <p:nvSpPr>
          <p:cNvPr id="3" name="Shape 1"/>
          <p:cNvSpPr/>
          <p:nvPr/>
        </p:nvSpPr>
        <p:spPr>
          <a:xfrm>
            <a:off x="320040" y="868680"/>
            <a:ext cx="2697480" cy="3931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320040" y="868680"/>
            <a:ext cx="2697480" cy="457200"/>
          </a:xfrm>
          <a:prstGeom prst="rect">
            <a:avLst/>
          </a:prstGeom>
          <a:solidFill>
            <a:srgbClr val="E8594F"/>
          </a:solidFill>
          <a:ln/>
        </p:spPr>
        <p:txBody>
          <a:bodyPr/>
          <a:lstStyle/>
          <a:p>
            <a:endParaRPr lang="en-US" dirty="0"/>
          </a:p>
        </p:txBody>
      </p:sp>
      <p:sp>
        <p:nvSpPr>
          <p:cNvPr id="5" name="Text 3"/>
          <p:cNvSpPr/>
          <p:nvPr/>
        </p:nvSpPr>
        <p:spPr>
          <a:xfrm>
            <a:off x="320040" y="868680"/>
            <a:ext cx="2697480" cy="457200"/>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alibri" pitchFamily="34" charset="0"/>
                <a:ea typeface="Calibri" pitchFamily="34" charset="-122"/>
                <a:cs typeface="Calibri" pitchFamily="34" charset="-120"/>
              </a:rPr>
              <a:t>HIGH RISK</a:t>
            </a:r>
            <a:endParaRPr lang="en-US" sz="1300" dirty="0"/>
          </a:p>
        </p:txBody>
      </p:sp>
      <p:sp>
        <p:nvSpPr>
          <p:cNvPr id="6" name="Text 4"/>
          <p:cNvSpPr/>
          <p:nvPr/>
        </p:nvSpPr>
        <p:spPr>
          <a:xfrm>
            <a:off x="320040" y="1417320"/>
            <a:ext cx="2697480" cy="640080"/>
          </a:xfrm>
          <a:prstGeom prst="rect">
            <a:avLst/>
          </a:prstGeom>
          <a:noFill/>
          <a:ln/>
        </p:spPr>
        <p:txBody>
          <a:bodyPr wrap="square" lIns="0" tIns="0" rIns="0" bIns="0" rtlCol="0" anchor="ctr"/>
          <a:lstStyle/>
          <a:p>
            <a:pPr marL="0" indent="0" algn="ctr">
              <a:buNone/>
            </a:pPr>
            <a:r>
              <a:rPr lang="en-US" sz="3600" b="1" dirty="0">
                <a:solidFill>
                  <a:srgbClr val="E8594F"/>
                </a:solidFill>
                <a:latin typeface="Calibri" pitchFamily="34" charset="0"/>
                <a:ea typeface="Calibri" pitchFamily="34" charset="-122"/>
                <a:cs typeface="Calibri" pitchFamily="34" charset="-120"/>
              </a:rPr>
              <a:t>52.5%</a:t>
            </a:r>
            <a:endParaRPr lang="en-US" sz="3600" dirty="0"/>
          </a:p>
        </p:txBody>
      </p:sp>
      <p:sp>
        <p:nvSpPr>
          <p:cNvPr id="8" name="Shape 6"/>
          <p:cNvSpPr/>
          <p:nvPr/>
        </p:nvSpPr>
        <p:spPr>
          <a:xfrm>
            <a:off x="594360" y="2286000"/>
            <a:ext cx="2148840" cy="13716"/>
          </a:xfrm>
          <a:prstGeom prst="rect">
            <a:avLst/>
          </a:prstGeom>
          <a:solidFill>
            <a:srgbClr val="E8EAF0"/>
          </a:solidFill>
          <a:ln/>
        </p:spPr>
        <p:txBody>
          <a:bodyPr/>
          <a:lstStyle/>
          <a:p>
            <a:endParaRPr lang="en-US" dirty="0"/>
          </a:p>
        </p:txBody>
      </p:sp>
      <p:sp>
        <p:nvSpPr>
          <p:cNvPr id="9" name="Shape 7"/>
          <p:cNvSpPr/>
          <p:nvPr/>
        </p:nvSpPr>
        <p:spPr>
          <a:xfrm>
            <a:off x="594360" y="2496312"/>
            <a:ext cx="109728" cy="109728"/>
          </a:xfrm>
          <a:prstGeom prst="ellipse">
            <a:avLst/>
          </a:prstGeom>
          <a:solidFill>
            <a:srgbClr val="E8594F"/>
          </a:solidFill>
          <a:ln/>
        </p:spPr>
        <p:txBody>
          <a:bodyPr/>
          <a:lstStyle/>
          <a:p>
            <a:endParaRPr lang="en-US" dirty="0"/>
          </a:p>
        </p:txBody>
      </p:sp>
      <p:sp>
        <p:nvSpPr>
          <p:cNvPr id="10" name="Text 8"/>
          <p:cNvSpPr/>
          <p:nvPr/>
        </p:nvSpPr>
        <p:spPr>
          <a:xfrm>
            <a:off x="822960" y="242316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Inactive Members</a:t>
            </a:r>
            <a:endParaRPr lang="en-US" sz="1100" dirty="0"/>
          </a:p>
        </p:txBody>
      </p:sp>
      <p:sp>
        <p:nvSpPr>
          <p:cNvPr id="11" name="Shape 9"/>
          <p:cNvSpPr/>
          <p:nvPr/>
        </p:nvSpPr>
        <p:spPr>
          <a:xfrm>
            <a:off x="594360" y="2816352"/>
            <a:ext cx="109728" cy="109728"/>
          </a:xfrm>
          <a:prstGeom prst="ellipse">
            <a:avLst/>
          </a:prstGeom>
          <a:solidFill>
            <a:srgbClr val="E8594F"/>
          </a:solidFill>
          <a:ln/>
        </p:spPr>
        <p:txBody>
          <a:bodyPr/>
          <a:lstStyle/>
          <a:p>
            <a:endParaRPr lang="en-US" dirty="0"/>
          </a:p>
        </p:txBody>
      </p:sp>
      <p:sp>
        <p:nvSpPr>
          <p:cNvPr id="12" name="Text 10"/>
          <p:cNvSpPr/>
          <p:nvPr/>
        </p:nvSpPr>
        <p:spPr>
          <a:xfrm>
            <a:off x="822960" y="274320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Senior (45+)</a:t>
            </a:r>
            <a:endParaRPr lang="en-US" sz="1100" dirty="0"/>
          </a:p>
        </p:txBody>
      </p:sp>
      <p:sp>
        <p:nvSpPr>
          <p:cNvPr id="13" name="Shape 11"/>
          <p:cNvSpPr/>
          <p:nvPr/>
        </p:nvSpPr>
        <p:spPr>
          <a:xfrm>
            <a:off x="594360" y="3136392"/>
            <a:ext cx="109728" cy="109728"/>
          </a:xfrm>
          <a:prstGeom prst="ellipse">
            <a:avLst/>
          </a:prstGeom>
          <a:solidFill>
            <a:srgbClr val="E8594F"/>
          </a:solidFill>
          <a:ln/>
        </p:spPr>
        <p:txBody>
          <a:bodyPr/>
          <a:lstStyle/>
          <a:p>
            <a:endParaRPr lang="en-US" dirty="0"/>
          </a:p>
        </p:txBody>
      </p:sp>
      <p:sp>
        <p:nvSpPr>
          <p:cNvPr id="14" name="Text 12"/>
          <p:cNvSpPr/>
          <p:nvPr/>
        </p:nvSpPr>
        <p:spPr>
          <a:xfrm>
            <a:off x="822960" y="306324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Germany</a:t>
            </a:r>
            <a:endParaRPr lang="en-US" sz="1100" dirty="0"/>
          </a:p>
        </p:txBody>
      </p:sp>
      <p:sp>
        <p:nvSpPr>
          <p:cNvPr id="15" name="Shape 13"/>
          <p:cNvSpPr/>
          <p:nvPr/>
        </p:nvSpPr>
        <p:spPr>
          <a:xfrm>
            <a:off x="594360" y="3456432"/>
            <a:ext cx="109728" cy="109728"/>
          </a:xfrm>
          <a:prstGeom prst="ellipse">
            <a:avLst/>
          </a:prstGeom>
          <a:solidFill>
            <a:srgbClr val="E8594F"/>
          </a:solidFill>
          <a:ln/>
        </p:spPr>
        <p:txBody>
          <a:bodyPr/>
          <a:lstStyle/>
          <a:p>
            <a:endParaRPr lang="en-US" dirty="0"/>
          </a:p>
        </p:txBody>
      </p:sp>
      <p:sp>
        <p:nvSpPr>
          <p:cNvPr id="16" name="Text 14"/>
          <p:cNvSpPr/>
          <p:nvPr/>
        </p:nvSpPr>
        <p:spPr>
          <a:xfrm>
            <a:off x="822960" y="338328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Avg 99k Balance</a:t>
            </a:r>
            <a:endParaRPr lang="en-US" sz="1100" dirty="0"/>
          </a:p>
        </p:txBody>
      </p:sp>
      <p:sp>
        <p:nvSpPr>
          <p:cNvPr id="17" name="Shape 15"/>
          <p:cNvSpPr/>
          <p:nvPr/>
        </p:nvSpPr>
        <p:spPr>
          <a:xfrm>
            <a:off x="457200" y="3749040"/>
            <a:ext cx="2423160" cy="868680"/>
          </a:xfrm>
          <a:prstGeom prst="rect">
            <a:avLst/>
          </a:prstGeom>
          <a:solidFill>
            <a:srgbClr val="FEF2F2"/>
          </a:solidFill>
          <a:ln/>
        </p:spPr>
        <p:txBody>
          <a:bodyPr/>
          <a:lstStyle/>
          <a:p>
            <a:endParaRPr lang="en-US" dirty="0"/>
          </a:p>
        </p:txBody>
      </p:sp>
      <p:sp>
        <p:nvSpPr>
          <p:cNvPr id="18" name="Text 16"/>
          <p:cNvSpPr/>
          <p:nvPr/>
        </p:nvSpPr>
        <p:spPr>
          <a:xfrm>
            <a:off x="548640" y="3794760"/>
            <a:ext cx="2240280" cy="777240"/>
          </a:xfrm>
          <a:prstGeom prst="rect">
            <a:avLst/>
          </a:prstGeom>
          <a:noFill/>
          <a:ln/>
        </p:spPr>
        <p:txBody>
          <a:bodyPr wrap="square" rtlCol="0" anchor="t"/>
          <a:lstStyle/>
          <a:p>
            <a:pPr marL="0" indent="0">
              <a:buNone/>
            </a:pPr>
            <a:r>
              <a:rPr lang="en-US" sz="950" dirty="0">
                <a:solidFill>
                  <a:srgbClr val="4B5563"/>
                </a:solidFill>
                <a:latin typeface="Calibri" pitchFamily="34" charset="0"/>
                <a:ea typeface="Calibri" pitchFamily="34" charset="-122"/>
                <a:cs typeface="Calibri" pitchFamily="34" charset="-120"/>
              </a:rPr>
              <a:t>Finansal değeri yüksek ancak bankadan ayrılma riski en yüksek müşteri grubudur.</a:t>
            </a:r>
            <a:endParaRPr lang="en-US" sz="950" dirty="0"/>
          </a:p>
        </p:txBody>
      </p:sp>
      <p:sp>
        <p:nvSpPr>
          <p:cNvPr id="19" name="Shape 17"/>
          <p:cNvSpPr/>
          <p:nvPr/>
        </p:nvSpPr>
        <p:spPr>
          <a:xfrm>
            <a:off x="3246120" y="868680"/>
            <a:ext cx="2697480" cy="3931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0" name="Shape 18"/>
          <p:cNvSpPr/>
          <p:nvPr/>
        </p:nvSpPr>
        <p:spPr>
          <a:xfrm>
            <a:off x="3246120" y="868680"/>
            <a:ext cx="2697480" cy="457200"/>
          </a:xfrm>
          <a:prstGeom prst="rect">
            <a:avLst/>
          </a:prstGeom>
          <a:solidFill>
            <a:srgbClr val="F59E0B"/>
          </a:solidFill>
          <a:ln/>
        </p:spPr>
        <p:txBody>
          <a:bodyPr/>
          <a:lstStyle/>
          <a:p>
            <a:endParaRPr lang="en-US" dirty="0"/>
          </a:p>
        </p:txBody>
      </p:sp>
      <p:sp>
        <p:nvSpPr>
          <p:cNvPr id="21" name="Text 19"/>
          <p:cNvSpPr/>
          <p:nvPr/>
        </p:nvSpPr>
        <p:spPr>
          <a:xfrm>
            <a:off x="3246120" y="868680"/>
            <a:ext cx="2697480" cy="457200"/>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alibri" pitchFamily="34" charset="0"/>
                <a:ea typeface="Calibri" pitchFamily="34" charset="-122"/>
                <a:cs typeface="Calibri" pitchFamily="34" charset="-120"/>
              </a:rPr>
              <a:t>MEDIUM RISK</a:t>
            </a:r>
            <a:endParaRPr lang="en-US" sz="1300" dirty="0"/>
          </a:p>
        </p:txBody>
      </p:sp>
      <p:sp>
        <p:nvSpPr>
          <p:cNvPr id="22" name="Text 20"/>
          <p:cNvSpPr/>
          <p:nvPr/>
        </p:nvSpPr>
        <p:spPr>
          <a:xfrm>
            <a:off x="3246120" y="1417320"/>
            <a:ext cx="2697480" cy="640080"/>
          </a:xfrm>
          <a:prstGeom prst="rect">
            <a:avLst/>
          </a:prstGeom>
          <a:noFill/>
          <a:ln/>
        </p:spPr>
        <p:txBody>
          <a:bodyPr wrap="square" lIns="0" tIns="0" rIns="0" bIns="0"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26.0%</a:t>
            </a:r>
            <a:endParaRPr lang="en-US" sz="3600" dirty="0"/>
          </a:p>
        </p:txBody>
      </p:sp>
      <p:sp>
        <p:nvSpPr>
          <p:cNvPr id="24" name="Shape 22"/>
          <p:cNvSpPr/>
          <p:nvPr/>
        </p:nvSpPr>
        <p:spPr>
          <a:xfrm>
            <a:off x="3520440" y="2286000"/>
            <a:ext cx="2148840" cy="13716"/>
          </a:xfrm>
          <a:prstGeom prst="rect">
            <a:avLst/>
          </a:prstGeom>
          <a:solidFill>
            <a:srgbClr val="E8EAF0"/>
          </a:solidFill>
          <a:ln/>
        </p:spPr>
        <p:txBody>
          <a:bodyPr/>
          <a:lstStyle/>
          <a:p>
            <a:endParaRPr lang="en-US" dirty="0"/>
          </a:p>
        </p:txBody>
      </p:sp>
      <p:sp>
        <p:nvSpPr>
          <p:cNvPr id="25" name="Shape 23"/>
          <p:cNvSpPr/>
          <p:nvPr/>
        </p:nvSpPr>
        <p:spPr>
          <a:xfrm>
            <a:off x="3520440" y="2496312"/>
            <a:ext cx="109728" cy="109728"/>
          </a:xfrm>
          <a:prstGeom prst="ellipse">
            <a:avLst/>
          </a:prstGeom>
          <a:solidFill>
            <a:srgbClr val="F59E0B"/>
          </a:solidFill>
          <a:ln/>
        </p:spPr>
        <p:txBody>
          <a:bodyPr/>
          <a:lstStyle/>
          <a:p>
            <a:endParaRPr lang="en-US" dirty="0"/>
          </a:p>
        </p:txBody>
      </p:sp>
      <p:sp>
        <p:nvSpPr>
          <p:cNvPr id="26" name="Text 24"/>
          <p:cNvSpPr/>
          <p:nvPr/>
        </p:nvSpPr>
        <p:spPr>
          <a:xfrm>
            <a:off x="3749040" y="242316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Middle (33–44)</a:t>
            </a:r>
            <a:endParaRPr lang="en-US" sz="1100" dirty="0"/>
          </a:p>
        </p:txBody>
      </p:sp>
      <p:sp>
        <p:nvSpPr>
          <p:cNvPr id="27" name="Shape 25"/>
          <p:cNvSpPr/>
          <p:nvPr/>
        </p:nvSpPr>
        <p:spPr>
          <a:xfrm>
            <a:off x="3520440" y="2816352"/>
            <a:ext cx="109728" cy="109728"/>
          </a:xfrm>
          <a:prstGeom prst="ellipse">
            <a:avLst/>
          </a:prstGeom>
          <a:solidFill>
            <a:srgbClr val="F59E0B"/>
          </a:solidFill>
          <a:ln/>
        </p:spPr>
        <p:txBody>
          <a:bodyPr/>
          <a:lstStyle/>
          <a:p>
            <a:endParaRPr lang="en-US" dirty="0"/>
          </a:p>
        </p:txBody>
      </p:sp>
      <p:sp>
        <p:nvSpPr>
          <p:cNvPr id="28" name="Text 26"/>
          <p:cNvSpPr/>
          <p:nvPr/>
        </p:nvSpPr>
        <p:spPr>
          <a:xfrm>
            <a:off x="3749040" y="274320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Avg 72.5k Balance</a:t>
            </a:r>
            <a:endParaRPr lang="en-US" sz="1100" dirty="0"/>
          </a:p>
        </p:txBody>
      </p:sp>
      <p:sp>
        <p:nvSpPr>
          <p:cNvPr id="29" name="Shape 27"/>
          <p:cNvSpPr/>
          <p:nvPr/>
        </p:nvSpPr>
        <p:spPr>
          <a:xfrm>
            <a:off x="3383280" y="3749040"/>
            <a:ext cx="2423160" cy="868680"/>
          </a:xfrm>
          <a:prstGeom prst="rect">
            <a:avLst/>
          </a:prstGeom>
          <a:solidFill>
            <a:srgbClr val="FFFBEB"/>
          </a:solidFill>
          <a:ln/>
        </p:spPr>
        <p:txBody>
          <a:bodyPr/>
          <a:lstStyle/>
          <a:p>
            <a:endParaRPr lang="en-US" dirty="0"/>
          </a:p>
        </p:txBody>
      </p:sp>
      <p:sp>
        <p:nvSpPr>
          <p:cNvPr id="30" name="Text 28"/>
          <p:cNvSpPr/>
          <p:nvPr/>
        </p:nvSpPr>
        <p:spPr>
          <a:xfrm>
            <a:off x="3474720" y="3794760"/>
            <a:ext cx="2240280" cy="777240"/>
          </a:xfrm>
          <a:prstGeom prst="rect">
            <a:avLst/>
          </a:prstGeom>
          <a:noFill/>
          <a:ln/>
        </p:spPr>
        <p:txBody>
          <a:bodyPr wrap="square" rtlCol="0" anchor="t"/>
          <a:lstStyle/>
          <a:p>
            <a:pPr marL="0" indent="0">
              <a:buNone/>
            </a:pPr>
            <a:r>
              <a:rPr lang="en-US" sz="950" dirty="0">
                <a:solidFill>
                  <a:srgbClr val="4B5563"/>
                </a:solidFill>
                <a:latin typeface="Calibri" pitchFamily="34" charset="0"/>
                <a:ea typeface="Calibri" pitchFamily="34" charset="-122"/>
                <a:cs typeface="Calibri" pitchFamily="34" charset="-120"/>
              </a:rPr>
              <a:t>Doğru iletişim ve kampanyalarla bağlılığı artırılabilecek geçiş segmentidir.</a:t>
            </a:r>
            <a:endParaRPr lang="en-US" sz="950" dirty="0"/>
          </a:p>
        </p:txBody>
      </p:sp>
      <p:sp>
        <p:nvSpPr>
          <p:cNvPr id="31" name="Shape 29"/>
          <p:cNvSpPr/>
          <p:nvPr/>
        </p:nvSpPr>
        <p:spPr>
          <a:xfrm>
            <a:off x="6172200" y="868680"/>
            <a:ext cx="2697480" cy="3931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32" name="Shape 30"/>
          <p:cNvSpPr/>
          <p:nvPr/>
        </p:nvSpPr>
        <p:spPr>
          <a:xfrm>
            <a:off x="6172200" y="868680"/>
            <a:ext cx="2697480" cy="457200"/>
          </a:xfrm>
          <a:prstGeom prst="rect">
            <a:avLst/>
          </a:prstGeom>
          <a:solidFill>
            <a:srgbClr val="0EA5A0"/>
          </a:solidFill>
          <a:ln/>
        </p:spPr>
        <p:txBody>
          <a:bodyPr/>
          <a:lstStyle/>
          <a:p>
            <a:endParaRPr lang="en-US" dirty="0"/>
          </a:p>
        </p:txBody>
      </p:sp>
      <p:sp>
        <p:nvSpPr>
          <p:cNvPr id="33" name="Text 31"/>
          <p:cNvSpPr/>
          <p:nvPr/>
        </p:nvSpPr>
        <p:spPr>
          <a:xfrm>
            <a:off x="6172200" y="868680"/>
            <a:ext cx="2697480" cy="457200"/>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alibri" pitchFamily="34" charset="0"/>
                <a:ea typeface="Calibri" pitchFamily="34" charset="-122"/>
                <a:cs typeface="Calibri" pitchFamily="34" charset="-120"/>
              </a:rPr>
              <a:t>LOW RISK</a:t>
            </a:r>
            <a:endParaRPr lang="en-US" sz="1300" dirty="0"/>
          </a:p>
        </p:txBody>
      </p:sp>
      <p:sp>
        <p:nvSpPr>
          <p:cNvPr id="34" name="Text 32"/>
          <p:cNvSpPr/>
          <p:nvPr/>
        </p:nvSpPr>
        <p:spPr>
          <a:xfrm>
            <a:off x="6172200" y="1417320"/>
            <a:ext cx="2697480" cy="640080"/>
          </a:xfrm>
          <a:prstGeom prst="rect">
            <a:avLst/>
          </a:prstGeom>
          <a:noFill/>
          <a:ln/>
        </p:spPr>
        <p:txBody>
          <a:bodyPr wrap="square" lIns="0" tIns="0" rIns="0" bIns="0" rtlCol="0" anchor="ctr"/>
          <a:lstStyle/>
          <a:p>
            <a:pPr marL="0" indent="0" algn="ctr">
              <a:buNone/>
            </a:pPr>
            <a:r>
              <a:rPr lang="en-US" sz="3600" b="1" dirty="0">
                <a:solidFill>
                  <a:srgbClr val="0EA5A0"/>
                </a:solidFill>
                <a:latin typeface="Calibri" pitchFamily="34" charset="0"/>
                <a:ea typeface="Calibri" pitchFamily="34" charset="-122"/>
                <a:cs typeface="Calibri" pitchFamily="34" charset="-120"/>
              </a:rPr>
              <a:t>21.5%</a:t>
            </a:r>
            <a:endParaRPr lang="en-US" sz="3600" dirty="0"/>
          </a:p>
        </p:txBody>
      </p:sp>
      <p:sp>
        <p:nvSpPr>
          <p:cNvPr id="36" name="Shape 34"/>
          <p:cNvSpPr/>
          <p:nvPr/>
        </p:nvSpPr>
        <p:spPr>
          <a:xfrm>
            <a:off x="6446520" y="2286000"/>
            <a:ext cx="2148840" cy="13716"/>
          </a:xfrm>
          <a:prstGeom prst="rect">
            <a:avLst/>
          </a:prstGeom>
          <a:solidFill>
            <a:srgbClr val="E8EAF0"/>
          </a:solidFill>
          <a:ln/>
        </p:spPr>
        <p:txBody>
          <a:bodyPr/>
          <a:lstStyle/>
          <a:p>
            <a:endParaRPr lang="en-US" dirty="0"/>
          </a:p>
        </p:txBody>
      </p:sp>
      <p:sp>
        <p:nvSpPr>
          <p:cNvPr id="37" name="Shape 35"/>
          <p:cNvSpPr/>
          <p:nvPr/>
        </p:nvSpPr>
        <p:spPr>
          <a:xfrm>
            <a:off x="6446520" y="2496312"/>
            <a:ext cx="109728" cy="109728"/>
          </a:xfrm>
          <a:prstGeom prst="ellipse">
            <a:avLst/>
          </a:prstGeom>
          <a:solidFill>
            <a:srgbClr val="0EA5A0"/>
          </a:solidFill>
          <a:ln/>
        </p:spPr>
        <p:txBody>
          <a:bodyPr/>
          <a:lstStyle/>
          <a:p>
            <a:endParaRPr lang="en-US" dirty="0"/>
          </a:p>
        </p:txBody>
      </p:sp>
      <p:sp>
        <p:nvSpPr>
          <p:cNvPr id="38" name="Text 36"/>
          <p:cNvSpPr/>
          <p:nvPr/>
        </p:nvSpPr>
        <p:spPr>
          <a:xfrm>
            <a:off x="6675120" y="242316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Active Members</a:t>
            </a:r>
            <a:endParaRPr lang="en-US" sz="1100" dirty="0"/>
          </a:p>
        </p:txBody>
      </p:sp>
      <p:sp>
        <p:nvSpPr>
          <p:cNvPr id="39" name="Shape 37"/>
          <p:cNvSpPr/>
          <p:nvPr/>
        </p:nvSpPr>
        <p:spPr>
          <a:xfrm>
            <a:off x="6446520" y="2816352"/>
            <a:ext cx="109728" cy="109728"/>
          </a:xfrm>
          <a:prstGeom prst="ellipse">
            <a:avLst/>
          </a:prstGeom>
          <a:solidFill>
            <a:srgbClr val="0EA5A0"/>
          </a:solidFill>
          <a:ln/>
        </p:spPr>
        <p:txBody>
          <a:bodyPr/>
          <a:lstStyle/>
          <a:p>
            <a:endParaRPr lang="en-US" dirty="0"/>
          </a:p>
        </p:txBody>
      </p:sp>
      <p:sp>
        <p:nvSpPr>
          <p:cNvPr id="40" name="Text 38"/>
          <p:cNvSpPr/>
          <p:nvPr/>
        </p:nvSpPr>
        <p:spPr>
          <a:xfrm>
            <a:off x="6675120" y="274320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Young (18–32)</a:t>
            </a:r>
            <a:endParaRPr lang="en-US" sz="1100" dirty="0"/>
          </a:p>
        </p:txBody>
      </p:sp>
      <p:sp>
        <p:nvSpPr>
          <p:cNvPr id="41" name="Shape 39"/>
          <p:cNvSpPr/>
          <p:nvPr/>
        </p:nvSpPr>
        <p:spPr>
          <a:xfrm>
            <a:off x="6446520" y="3136392"/>
            <a:ext cx="109728" cy="109728"/>
          </a:xfrm>
          <a:prstGeom prst="ellipse">
            <a:avLst/>
          </a:prstGeom>
          <a:solidFill>
            <a:srgbClr val="0EA5A0"/>
          </a:solidFill>
          <a:ln/>
        </p:spPr>
        <p:txBody>
          <a:bodyPr/>
          <a:lstStyle/>
          <a:p>
            <a:endParaRPr lang="en-US" dirty="0"/>
          </a:p>
        </p:txBody>
      </p:sp>
      <p:sp>
        <p:nvSpPr>
          <p:cNvPr id="42" name="Text 40"/>
          <p:cNvSpPr/>
          <p:nvPr/>
        </p:nvSpPr>
        <p:spPr>
          <a:xfrm>
            <a:off x="6675120" y="306324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Avg 44.1k Balance</a:t>
            </a:r>
            <a:endParaRPr lang="en-US" sz="1100" dirty="0"/>
          </a:p>
        </p:txBody>
      </p:sp>
      <p:sp>
        <p:nvSpPr>
          <p:cNvPr id="43" name="Shape 41"/>
          <p:cNvSpPr/>
          <p:nvPr/>
        </p:nvSpPr>
        <p:spPr>
          <a:xfrm>
            <a:off x="6446520" y="3456432"/>
            <a:ext cx="109728" cy="109728"/>
          </a:xfrm>
          <a:prstGeom prst="ellipse">
            <a:avLst/>
          </a:prstGeom>
          <a:solidFill>
            <a:srgbClr val="0EA5A0"/>
          </a:solidFill>
          <a:ln/>
        </p:spPr>
        <p:txBody>
          <a:bodyPr/>
          <a:lstStyle/>
          <a:p>
            <a:endParaRPr lang="en-US" dirty="0"/>
          </a:p>
        </p:txBody>
      </p:sp>
      <p:sp>
        <p:nvSpPr>
          <p:cNvPr id="44" name="Text 42"/>
          <p:cNvSpPr/>
          <p:nvPr/>
        </p:nvSpPr>
        <p:spPr>
          <a:xfrm>
            <a:off x="6675120" y="338328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2 Products</a:t>
            </a:r>
            <a:endParaRPr lang="en-US" sz="1100" dirty="0"/>
          </a:p>
        </p:txBody>
      </p:sp>
      <p:sp>
        <p:nvSpPr>
          <p:cNvPr id="45" name="Shape 43"/>
          <p:cNvSpPr/>
          <p:nvPr/>
        </p:nvSpPr>
        <p:spPr>
          <a:xfrm>
            <a:off x="6309360" y="3749040"/>
            <a:ext cx="2423160" cy="868680"/>
          </a:xfrm>
          <a:prstGeom prst="rect">
            <a:avLst/>
          </a:prstGeom>
          <a:solidFill>
            <a:srgbClr val="ECFDF5"/>
          </a:solidFill>
          <a:ln/>
        </p:spPr>
        <p:txBody>
          <a:bodyPr/>
          <a:lstStyle/>
          <a:p>
            <a:endParaRPr lang="en-US" dirty="0"/>
          </a:p>
        </p:txBody>
      </p:sp>
      <p:sp>
        <p:nvSpPr>
          <p:cNvPr id="46" name="Text 44"/>
          <p:cNvSpPr/>
          <p:nvPr/>
        </p:nvSpPr>
        <p:spPr>
          <a:xfrm>
            <a:off x="6400800" y="3794760"/>
            <a:ext cx="2240280" cy="777240"/>
          </a:xfrm>
          <a:prstGeom prst="rect">
            <a:avLst/>
          </a:prstGeom>
          <a:noFill/>
          <a:ln/>
        </p:spPr>
        <p:txBody>
          <a:bodyPr wrap="square" rtlCol="0" anchor="t"/>
          <a:lstStyle/>
          <a:p>
            <a:pPr marL="0" indent="0">
              <a:buNone/>
            </a:pPr>
            <a:r>
              <a:rPr lang="en-US" sz="950" dirty="0">
                <a:solidFill>
                  <a:srgbClr val="4B5563"/>
                </a:solidFill>
                <a:latin typeface="Calibri" pitchFamily="34" charset="0"/>
                <a:ea typeface="Calibri" pitchFamily="34" charset="-122"/>
                <a:cs typeface="Calibri" pitchFamily="34" charset="-120"/>
              </a:rPr>
              <a:t>Sadık ve düzenli işlem yapan müşteri grubudur.</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İş İçgörüleri</a:t>
            </a:r>
            <a:endParaRPr lang="en-US" sz="2800" dirty="0"/>
          </a:p>
        </p:txBody>
      </p:sp>
      <p:sp>
        <p:nvSpPr>
          <p:cNvPr id="3" name="Shape 1"/>
          <p:cNvSpPr/>
          <p:nvPr/>
        </p:nvSpPr>
        <p:spPr>
          <a:xfrm>
            <a:off x="548640" y="1005840"/>
            <a:ext cx="804672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548640" y="1005840"/>
            <a:ext cx="54864" cy="594360"/>
          </a:xfrm>
          <a:prstGeom prst="rect">
            <a:avLst/>
          </a:prstGeom>
          <a:solidFill>
            <a:srgbClr val="E8594F"/>
          </a:solidFill>
          <a:ln/>
        </p:spPr>
        <p:txBody>
          <a:bodyPr/>
          <a:lstStyle/>
          <a:p>
            <a:endParaRPr lang="en-US" dirty="0"/>
          </a:p>
        </p:txBody>
      </p:sp>
      <p:sp>
        <p:nvSpPr>
          <p:cNvPr id="5" name="Shape 3"/>
          <p:cNvSpPr/>
          <p:nvPr/>
        </p:nvSpPr>
        <p:spPr>
          <a:xfrm>
            <a:off x="822960" y="1161288"/>
            <a:ext cx="274320" cy="274320"/>
          </a:xfrm>
          <a:prstGeom prst="ellipse">
            <a:avLst/>
          </a:prstGeom>
          <a:solidFill>
            <a:srgbClr val="E8594F"/>
          </a:solidFill>
          <a:ln/>
        </p:spPr>
        <p:txBody>
          <a:bodyPr/>
          <a:lstStyle/>
          <a:p>
            <a:endParaRPr lang="en-US" dirty="0"/>
          </a:p>
        </p:txBody>
      </p:sp>
      <p:sp>
        <p:nvSpPr>
          <p:cNvPr id="6" name="Text 4"/>
          <p:cNvSpPr/>
          <p:nvPr/>
        </p:nvSpPr>
        <p:spPr>
          <a:xfrm>
            <a:off x="822960" y="116128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280160" y="1005840"/>
            <a:ext cx="7132320" cy="594360"/>
          </a:xfrm>
          <a:prstGeom prst="rect">
            <a:avLst/>
          </a:prstGeom>
          <a:noFill/>
          <a:ln/>
        </p:spPr>
        <p:txBody>
          <a:bodyPr wrap="square" lIns="0" tIns="0" rIns="0" bIns="0" rtlCol="0" anchor="ctr"/>
          <a:lstStyle/>
          <a:p>
            <a:pPr marL="0" indent="0">
              <a:buNone/>
            </a:pPr>
            <a:r>
              <a:rPr lang="en-US" sz="1400" dirty="0">
                <a:solidFill>
                  <a:srgbClr val="1E2235"/>
                </a:solidFill>
                <a:latin typeface="Calibri" pitchFamily="34" charset="0"/>
                <a:ea typeface="Calibri" pitchFamily="34" charset="-122"/>
                <a:cs typeface="Calibri" pitchFamily="34" charset="-120"/>
              </a:rPr>
              <a:t>Churn belirli müşteri segmentlerinde yoğunlaşmaktadır</a:t>
            </a:r>
            <a:endParaRPr lang="en-US" sz="1400" dirty="0"/>
          </a:p>
        </p:txBody>
      </p:sp>
      <p:sp>
        <p:nvSpPr>
          <p:cNvPr id="8" name="Shape 6"/>
          <p:cNvSpPr/>
          <p:nvPr/>
        </p:nvSpPr>
        <p:spPr>
          <a:xfrm>
            <a:off x="548640" y="1783080"/>
            <a:ext cx="804672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9" name="Shape 7"/>
          <p:cNvSpPr/>
          <p:nvPr/>
        </p:nvSpPr>
        <p:spPr>
          <a:xfrm>
            <a:off x="548640" y="1783080"/>
            <a:ext cx="54864" cy="594360"/>
          </a:xfrm>
          <a:prstGeom prst="rect">
            <a:avLst/>
          </a:prstGeom>
          <a:solidFill>
            <a:srgbClr val="F59E0B"/>
          </a:solidFill>
          <a:ln/>
        </p:spPr>
        <p:txBody>
          <a:bodyPr/>
          <a:lstStyle/>
          <a:p>
            <a:endParaRPr lang="en-US" dirty="0"/>
          </a:p>
        </p:txBody>
      </p:sp>
      <p:sp>
        <p:nvSpPr>
          <p:cNvPr id="10" name="Shape 8"/>
          <p:cNvSpPr/>
          <p:nvPr/>
        </p:nvSpPr>
        <p:spPr>
          <a:xfrm>
            <a:off x="822960" y="1938528"/>
            <a:ext cx="274320" cy="274320"/>
          </a:xfrm>
          <a:prstGeom prst="ellipse">
            <a:avLst/>
          </a:prstGeom>
          <a:solidFill>
            <a:srgbClr val="F59E0B"/>
          </a:solidFill>
          <a:ln/>
        </p:spPr>
        <p:txBody>
          <a:bodyPr/>
          <a:lstStyle/>
          <a:p>
            <a:endParaRPr lang="en-US" dirty="0"/>
          </a:p>
        </p:txBody>
      </p:sp>
      <p:sp>
        <p:nvSpPr>
          <p:cNvPr id="11" name="Text 9"/>
          <p:cNvSpPr/>
          <p:nvPr/>
        </p:nvSpPr>
        <p:spPr>
          <a:xfrm>
            <a:off x="822960" y="19385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280160" y="1783080"/>
            <a:ext cx="7132320" cy="594360"/>
          </a:xfrm>
          <a:prstGeom prst="rect">
            <a:avLst/>
          </a:prstGeom>
          <a:noFill/>
          <a:ln/>
        </p:spPr>
        <p:txBody>
          <a:bodyPr wrap="square" lIns="0" tIns="0" rIns="0" bIns="0" rtlCol="0" anchor="ctr"/>
          <a:lstStyle/>
          <a:p>
            <a:pPr marL="0" indent="0">
              <a:buNone/>
            </a:pPr>
            <a:r>
              <a:rPr lang="en-US" sz="1400" dirty="0">
                <a:solidFill>
                  <a:srgbClr val="1E2235"/>
                </a:solidFill>
                <a:latin typeface="Calibri" pitchFamily="34" charset="0"/>
                <a:ea typeface="Calibri" pitchFamily="34" charset="-122"/>
                <a:cs typeface="Calibri" pitchFamily="34" charset="-120"/>
              </a:rPr>
              <a:t>Finansal değeri yüksek  müşterilerde ayrılma riski bulunmaktadır</a:t>
            </a:r>
            <a:endParaRPr lang="en-US" sz="1400" dirty="0"/>
          </a:p>
        </p:txBody>
      </p:sp>
      <p:sp>
        <p:nvSpPr>
          <p:cNvPr id="13" name="Shape 11"/>
          <p:cNvSpPr/>
          <p:nvPr/>
        </p:nvSpPr>
        <p:spPr>
          <a:xfrm>
            <a:off x="548640" y="2560320"/>
            <a:ext cx="804672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4" name="Shape 12"/>
          <p:cNvSpPr/>
          <p:nvPr/>
        </p:nvSpPr>
        <p:spPr>
          <a:xfrm>
            <a:off x="548640" y="2560320"/>
            <a:ext cx="54864" cy="594360"/>
          </a:xfrm>
          <a:prstGeom prst="rect">
            <a:avLst/>
          </a:prstGeom>
          <a:solidFill>
            <a:srgbClr val="0EA5A0"/>
          </a:solidFill>
          <a:ln/>
        </p:spPr>
        <p:txBody>
          <a:bodyPr/>
          <a:lstStyle/>
          <a:p>
            <a:endParaRPr lang="en-US" dirty="0"/>
          </a:p>
        </p:txBody>
      </p:sp>
      <p:sp>
        <p:nvSpPr>
          <p:cNvPr id="15" name="Shape 13"/>
          <p:cNvSpPr/>
          <p:nvPr/>
        </p:nvSpPr>
        <p:spPr>
          <a:xfrm>
            <a:off x="822960" y="2715768"/>
            <a:ext cx="274320" cy="274320"/>
          </a:xfrm>
          <a:prstGeom prst="ellipse">
            <a:avLst/>
          </a:prstGeom>
          <a:solidFill>
            <a:srgbClr val="0EA5A0"/>
          </a:solidFill>
          <a:ln/>
        </p:spPr>
        <p:txBody>
          <a:bodyPr/>
          <a:lstStyle/>
          <a:p>
            <a:endParaRPr lang="en-US" dirty="0"/>
          </a:p>
        </p:txBody>
      </p:sp>
      <p:sp>
        <p:nvSpPr>
          <p:cNvPr id="16" name="Text 14"/>
          <p:cNvSpPr/>
          <p:nvPr/>
        </p:nvSpPr>
        <p:spPr>
          <a:xfrm>
            <a:off x="822960" y="271576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280160" y="2560320"/>
            <a:ext cx="7132320" cy="594360"/>
          </a:xfrm>
          <a:prstGeom prst="rect">
            <a:avLst/>
          </a:prstGeom>
          <a:noFill/>
          <a:ln/>
        </p:spPr>
        <p:txBody>
          <a:bodyPr wrap="square" lIns="0" tIns="0" rIns="0" bIns="0" rtlCol="0" anchor="ctr"/>
          <a:lstStyle/>
          <a:p>
            <a:pPr marL="0" indent="0">
              <a:buNone/>
            </a:pPr>
            <a:r>
              <a:rPr lang="en-US" sz="1400" dirty="0">
                <a:solidFill>
                  <a:srgbClr val="1E2235"/>
                </a:solidFill>
                <a:latin typeface="Calibri" pitchFamily="34" charset="0"/>
                <a:ea typeface="Calibri" pitchFamily="34" charset="-122"/>
                <a:cs typeface="Calibri" pitchFamily="34" charset="-120"/>
              </a:rPr>
              <a:t>Müşteri aktifliği bağlılık açısından kritik bir faktördür</a:t>
            </a:r>
            <a:endParaRPr lang="en-US" sz="1400" dirty="0"/>
          </a:p>
        </p:txBody>
      </p:sp>
      <p:sp>
        <p:nvSpPr>
          <p:cNvPr id="18" name="Shape 16"/>
          <p:cNvSpPr/>
          <p:nvPr/>
        </p:nvSpPr>
        <p:spPr>
          <a:xfrm>
            <a:off x="548640" y="3337560"/>
            <a:ext cx="804672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9" name="Shape 17"/>
          <p:cNvSpPr/>
          <p:nvPr/>
        </p:nvSpPr>
        <p:spPr>
          <a:xfrm>
            <a:off x="548640" y="3337560"/>
            <a:ext cx="54864" cy="594360"/>
          </a:xfrm>
          <a:prstGeom prst="rect">
            <a:avLst/>
          </a:prstGeom>
          <a:solidFill>
            <a:srgbClr val="4A6CF7"/>
          </a:solidFill>
          <a:ln/>
        </p:spPr>
        <p:txBody>
          <a:bodyPr/>
          <a:lstStyle/>
          <a:p>
            <a:endParaRPr lang="en-US" dirty="0"/>
          </a:p>
        </p:txBody>
      </p:sp>
      <p:sp>
        <p:nvSpPr>
          <p:cNvPr id="20" name="Shape 18"/>
          <p:cNvSpPr/>
          <p:nvPr/>
        </p:nvSpPr>
        <p:spPr>
          <a:xfrm>
            <a:off x="822960" y="3493008"/>
            <a:ext cx="274320" cy="274320"/>
          </a:xfrm>
          <a:prstGeom prst="ellipse">
            <a:avLst/>
          </a:prstGeom>
          <a:solidFill>
            <a:srgbClr val="4A6CF7"/>
          </a:solidFill>
          <a:ln/>
        </p:spPr>
        <p:txBody>
          <a:bodyPr/>
          <a:lstStyle/>
          <a:p>
            <a:endParaRPr lang="en-US" dirty="0"/>
          </a:p>
        </p:txBody>
      </p:sp>
      <p:sp>
        <p:nvSpPr>
          <p:cNvPr id="21" name="Text 19"/>
          <p:cNvSpPr/>
          <p:nvPr/>
        </p:nvSpPr>
        <p:spPr>
          <a:xfrm>
            <a:off x="822960" y="349300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1280160" y="3337560"/>
            <a:ext cx="7132320" cy="594360"/>
          </a:xfrm>
          <a:prstGeom prst="rect">
            <a:avLst/>
          </a:prstGeom>
          <a:noFill/>
          <a:ln/>
        </p:spPr>
        <p:txBody>
          <a:bodyPr wrap="square" lIns="0" tIns="0" rIns="0" bIns="0" rtlCol="0" anchor="ctr"/>
          <a:lstStyle/>
          <a:p>
            <a:pPr marL="0" indent="0">
              <a:buNone/>
            </a:pPr>
            <a:r>
              <a:rPr lang="en-US" sz="1400" dirty="0">
                <a:solidFill>
                  <a:srgbClr val="1E2235"/>
                </a:solidFill>
                <a:latin typeface="Calibri" pitchFamily="34" charset="0"/>
                <a:ea typeface="Calibri" pitchFamily="34" charset="-122"/>
                <a:cs typeface="Calibri" pitchFamily="34" charset="-120"/>
              </a:rPr>
              <a:t>Risk seviyesi müşteriye göre değişmektedir</a:t>
            </a:r>
            <a:endParaRPr lang="en-US" sz="1400" dirty="0"/>
          </a:p>
        </p:txBody>
      </p:sp>
      <p:sp>
        <p:nvSpPr>
          <p:cNvPr id="23" name="Shape 21"/>
          <p:cNvSpPr/>
          <p:nvPr/>
        </p:nvSpPr>
        <p:spPr>
          <a:xfrm>
            <a:off x="548640" y="4114800"/>
            <a:ext cx="804672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4" name="Shape 22"/>
          <p:cNvSpPr/>
          <p:nvPr/>
        </p:nvSpPr>
        <p:spPr>
          <a:xfrm>
            <a:off x="548640" y="4114800"/>
            <a:ext cx="54864" cy="594360"/>
          </a:xfrm>
          <a:prstGeom prst="rect">
            <a:avLst/>
          </a:prstGeom>
          <a:solidFill>
            <a:srgbClr val="10B981"/>
          </a:solidFill>
          <a:ln/>
        </p:spPr>
        <p:txBody>
          <a:bodyPr/>
          <a:lstStyle/>
          <a:p>
            <a:endParaRPr lang="en-US" dirty="0"/>
          </a:p>
        </p:txBody>
      </p:sp>
      <p:sp>
        <p:nvSpPr>
          <p:cNvPr id="25" name="Shape 23"/>
          <p:cNvSpPr/>
          <p:nvPr/>
        </p:nvSpPr>
        <p:spPr>
          <a:xfrm>
            <a:off x="822960" y="4270248"/>
            <a:ext cx="274320" cy="274320"/>
          </a:xfrm>
          <a:prstGeom prst="ellipse">
            <a:avLst/>
          </a:prstGeom>
          <a:solidFill>
            <a:srgbClr val="10B981"/>
          </a:solidFill>
          <a:ln/>
        </p:spPr>
        <p:txBody>
          <a:bodyPr/>
          <a:lstStyle/>
          <a:p>
            <a:endParaRPr lang="en-US" dirty="0"/>
          </a:p>
        </p:txBody>
      </p:sp>
      <p:sp>
        <p:nvSpPr>
          <p:cNvPr id="26" name="Text 24"/>
          <p:cNvSpPr/>
          <p:nvPr/>
        </p:nvSpPr>
        <p:spPr>
          <a:xfrm>
            <a:off x="822960" y="427024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1280160" y="4114800"/>
            <a:ext cx="7132320" cy="594360"/>
          </a:xfrm>
          <a:prstGeom prst="rect">
            <a:avLst/>
          </a:prstGeom>
          <a:noFill/>
          <a:ln/>
        </p:spPr>
        <p:txBody>
          <a:bodyPr wrap="square" lIns="0" tIns="0" rIns="0" bIns="0" rtlCol="0" anchor="ctr"/>
          <a:lstStyle/>
          <a:p>
            <a:pPr marL="0" indent="0">
              <a:buNone/>
            </a:pPr>
            <a:r>
              <a:rPr lang="en-US" sz="1400" dirty="0">
                <a:solidFill>
                  <a:srgbClr val="1E2235"/>
                </a:solidFill>
                <a:latin typeface="Calibri" pitchFamily="34" charset="0"/>
                <a:ea typeface="Calibri" pitchFamily="34" charset="-122"/>
                <a:cs typeface="Calibri" pitchFamily="34" charset="-120"/>
              </a:rPr>
              <a:t>Segment bazlı müşteri yönetimi gereklidir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A1F3D"/>
                </a:solidFill>
                <a:latin typeface="Calibri" pitchFamily="34" charset="0"/>
                <a:ea typeface="Calibri" pitchFamily="34" charset="-122"/>
                <a:cs typeface="Calibri" pitchFamily="34" charset="-120"/>
              </a:rPr>
              <a:t>Veri ile İlgili Dikkat Edilmesi Gereken Noktalar</a:t>
            </a:r>
            <a:endParaRPr lang="en-US" sz="2400" dirty="0"/>
          </a:p>
        </p:txBody>
      </p:sp>
      <p:sp>
        <p:nvSpPr>
          <p:cNvPr id="3" name="Shape 1"/>
          <p:cNvSpPr/>
          <p:nvPr/>
        </p:nvSpPr>
        <p:spPr>
          <a:xfrm>
            <a:off x="457200" y="868680"/>
            <a:ext cx="8229600" cy="594360"/>
          </a:xfrm>
          <a:prstGeom prst="rect">
            <a:avLst/>
          </a:prstGeom>
          <a:solidFill>
            <a:srgbClr val="FEF3C7"/>
          </a:solidFill>
          <a:ln/>
        </p:spPr>
        <p:txBody>
          <a:bodyPr/>
          <a:lstStyle/>
          <a:p>
            <a:endParaRPr lang="en-US" dirty="0"/>
          </a:p>
        </p:txBody>
      </p:sp>
      <p:sp>
        <p:nvSpPr>
          <p:cNvPr id="4" name="Text 2"/>
          <p:cNvSpPr/>
          <p:nvPr/>
        </p:nvSpPr>
        <p:spPr>
          <a:xfrm>
            <a:off x="685800" y="868680"/>
            <a:ext cx="7772400" cy="594360"/>
          </a:xfrm>
          <a:prstGeom prst="rect">
            <a:avLst/>
          </a:prstGeom>
          <a:noFill/>
          <a:ln/>
        </p:spPr>
        <p:txBody>
          <a:bodyPr wrap="square" rtlCol="0" anchor="ctr"/>
          <a:lstStyle/>
          <a:p>
            <a:pPr marL="0" indent="0">
              <a:buNone/>
            </a:pPr>
            <a:r>
              <a:rPr lang="en-US" sz="1200" dirty="0">
                <a:solidFill>
                  <a:srgbClr val="1E2235"/>
                </a:solidFill>
                <a:latin typeface="Calibri" pitchFamily="34" charset="0"/>
                <a:ea typeface="Calibri" pitchFamily="34" charset="-122"/>
                <a:cs typeface="Calibri" pitchFamily="34" charset="-120"/>
              </a:rPr>
              <a:t>Veri seti analiz için uygun ve temiz bir yapıdadır. Ancak bazı değişkenlerin tanımı yorumlanırken dikkat gerektirir.</a:t>
            </a:r>
            <a:endParaRPr lang="en-US" sz="1200" dirty="0"/>
          </a:p>
        </p:txBody>
      </p:sp>
      <p:sp>
        <p:nvSpPr>
          <p:cNvPr id="5" name="Shape 3"/>
          <p:cNvSpPr/>
          <p:nvPr/>
        </p:nvSpPr>
        <p:spPr>
          <a:xfrm>
            <a:off x="457200" y="1645920"/>
            <a:ext cx="822960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6" name="Shape 4"/>
          <p:cNvSpPr/>
          <p:nvPr/>
        </p:nvSpPr>
        <p:spPr>
          <a:xfrm>
            <a:off x="457200" y="1645920"/>
            <a:ext cx="54864" cy="960120"/>
          </a:xfrm>
          <a:prstGeom prst="rect">
            <a:avLst/>
          </a:prstGeom>
          <a:solidFill>
            <a:srgbClr val="4A6CF7"/>
          </a:solidFill>
          <a:ln/>
        </p:spPr>
        <p:txBody>
          <a:bodyPr/>
          <a:lstStyle/>
          <a:p>
            <a:endParaRPr lang="en-US" dirty="0"/>
          </a:p>
        </p:txBody>
      </p:sp>
      <p:sp>
        <p:nvSpPr>
          <p:cNvPr id="7" name="Text 5"/>
          <p:cNvSpPr/>
          <p:nvPr/>
        </p:nvSpPr>
        <p:spPr>
          <a:xfrm>
            <a:off x="731520" y="1719072"/>
            <a:ext cx="1828800" cy="274320"/>
          </a:xfrm>
          <a:prstGeom prst="rect">
            <a:avLst/>
          </a:prstGeom>
          <a:noFill/>
          <a:ln/>
        </p:spPr>
        <p:txBody>
          <a:bodyPr wrap="square" lIns="0" tIns="0" rIns="0" bIns="0" rtlCol="0" anchor="ctr"/>
          <a:lstStyle/>
          <a:p>
            <a:pPr marL="0" indent="0">
              <a:buNone/>
            </a:pPr>
            <a:r>
              <a:rPr lang="tr-TR" sz="1300" b="1" dirty="0">
                <a:solidFill>
                  <a:srgbClr val="1A1F3D"/>
                </a:solidFill>
                <a:latin typeface="Calibri" pitchFamily="34" charset="0"/>
                <a:ea typeface="Calibri" pitchFamily="34" charset="-122"/>
                <a:cs typeface="Calibri" pitchFamily="34" charset="-120"/>
              </a:rPr>
              <a:t>Active Member</a:t>
            </a:r>
            <a:endParaRPr lang="en-US" sz="1300" dirty="0"/>
          </a:p>
        </p:txBody>
      </p:sp>
      <p:sp>
        <p:nvSpPr>
          <p:cNvPr id="8" name="Text 6"/>
          <p:cNvSpPr/>
          <p:nvPr/>
        </p:nvSpPr>
        <p:spPr>
          <a:xfrm>
            <a:off x="731520" y="1993392"/>
            <a:ext cx="7772400" cy="548640"/>
          </a:xfrm>
          <a:prstGeom prst="rect">
            <a:avLst/>
          </a:prstGeom>
          <a:noFill/>
          <a:ln/>
        </p:spPr>
        <p:txBody>
          <a:bodyPr wrap="square" lIns="0" tIns="0" rIns="0" bIns="0" rtlCol="0" anchor="t"/>
          <a:lstStyle/>
          <a:p>
            <a:pPr marL="0" indent="0">
              <a:buNone/>
            </a:pPr>
            <a:r>
              <a:rPr lang="en-US" sz="1100" dirty="0">
                <a:solidFill>
                  <a:srgbClr val="4B5563"/>
                </a:solidFill>
                <a:latin typeface="Calibri" pitchFamily="34" charset="0"/>
                <a:ea typeface="Calibri" pitchFamily="34" charset="-122"/>
                <a:cs typeface="Calibri" pitchFamily="34" charset="-120"/>
              </a:rPr>
              <a:t>Hangi kritere göre belirlendiği veri setinde açıkça belirtilmemiştir. Müşterinin son işlem yapması, dijital kanalları kullanması veya maaş hesabı bulunması gibi farklı durumlar aktiflik olarak değerlendirilebilir.</a:t>
            </a:r>
            <a:endParaRPr lang="en-US" sz="1100" dirty="0"/>
          </a:p>
        </p:txBody>
      </p:sp>
      <p:sp>
        <p:nvSpPr>
          <p:cNvPr id="9" name="Shape 7"/>
          <p:cNvSpPr/>
          <p:nvPr/>
        </p:nvSpPr>
        <p:spPr>
          <a:xfrm>
            <a:off x="457200" y="2743200"/>
            <a:ext cx="822960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0" name="Shape 8"/>
          <p:cNvSpPr/>
          <p:nvPr/>
        </p:nvSpPr>
        <p:spPr>
          <a:xfrm>
            <a:off x="457200" y="2743200"/>
            <a:ext cx="54864" cy="960120"/>
          </a:xfrm>
          <a:prstGeom prst="rect">
            <a:avLst/>
          </a:prstGeom>
          <a:solidFill>
            <a:srgbClr val="E8594F"/>
          </a:solidFill>
          <a:ln/>
        </p:spPr>
        <p:txBody>
          <a:bodyPr/>
          <a:lstStyle/>
          <a:p>
            <a:endParaRPr lang="en-US" dirty="0"/>
          </a:p>
        </p:txBody>
      </p:sp>
      <p:sp>
        <p:nvSpPr>
          <p:cNvPr id="11" name="Text 9"/>
          <p:cNvSpPr/>
          <p:nvPr/>
        </p:nvSpPr>
        <p:spPr>
          <a:xfrm>
            <a:off x="731520" y="2816352"/>
            <a:ext cx="1828800" cy="274320"/>
          </a:xfrm>
          <a:prstGeom prst="rect">
            <a:avLst/>
          </a:prstGeom>
          <a:noFill/>
          <a:ln/>
        </p:spPr>
        <p:txBody>
          <a:bodyPr wrap="square" lIns="0" tIns="0" rIns="0" bIns="0" rtlCol="0" anchor="ctr"/>
          <a:lstStyle/>
          <a:p>
            <a:pPr marL="0" indent="0">
              <a:buNone/>
            </a:pPr>
            <a:r>
              <a:rPr lang="tr-TR" sz="1300" b="1" dirty="0">
                <a:solidFill>
                  <a:srgbClr val="1A1F3D"/>
                </a:solidFill>
                <a:latin typeface="Calibri" pitchFamily="34" charset="0"/>
                <a:ea typeface="Calibri" pitchFamily="34" charset="-122"/>
                <a:cs typeface="Calibri" pitchFamily="34" charset="-120"/>
              </a:rPr>
              <a:t>Churn</a:t>
            </a:r>
            <a:endParaRPr lang="en-US" sz="1300" dirty="0"/>
          </a:p>
        </p:txBody>
      </p:sp>
      <p:sp>
        <p:nvSpPr>
          <p:cNvPr id="12" name="Text 10"/>
          <p:cNvSpPr/>
          <p:nvPr/>
        </p:nvSpPr>
        <p:spPr>
          <a:xfrm>
            <a:off x="731520" y="3090672"/>
            <a:ext cx="7772400" cy="548640"/>
          </a:xfrm>
          <a:prstGeom prst="rect">
            <a:avLst/>
          </a:prstGeom>
          <a:noFill/>
          <a:ln/>
        </p:spPr>
        <p:txBody>
          <a:bodyPr wrap="square" lIns="0" tIns="0" rIns="0" bIns="0" rtlCol="0" anchor="t"/>
          <a:lstStyle/>
          <a:p>
            <a:pPr marL="0" indent="0">
              <a:buNone/>
            </a:pPr>
            <a:r>
              <a:rPr lang="en-US" sz="1100" dirty="0">
                <a:solidFill>
                  <a:srgbClr val="4B5563"/>
                </a:solidFill>
                <a:latin typeface="Calibri" pitchFamily="34" charset="0"/>
                <a:ea typeface="Calibri" pitchFamily="34" charset="-122"/>
                <a:cs typeface="Calibri" pitchFamily="34" charset="-120"/>
              </a:rPr>
              <a:t>Tanımı veri setinde detaylı olarak verilmemiştir. Hesap kapatma, uzun süre işlem yapmama ya da bankanın ilişkiyi sonlandırması gibi farklı durumlar churn olarak kabul ediliyor olabilir.</a:t>
            </a:r>
            <a:endParaRPr lang="en-US" sz="1100" dirty="0"/>
          </a:p>
        </p:txBody>
      </p:sp>
      <p:sp>
        <p:nvSpPr>
          <p:cNvPr id="13" name="Shape 11"/>
          <p:cNvSpPr/>
          <p:nvPr/>
        </p:nvSpPr>
        <p:spPr>
          <a:xfrm>
            <a:off x="457200" y="3840480"/>
            <a:ext cx="822960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4" name="Shape 12"/>
          <p:cNvSpPr/>
          <p:nvPr/>
        </p:nvSpPr>
        <p:spPr>
          <a:xfrm>
            <a:off x="457200" y="3840480"/>
            <a:ext cx="54864" cy="960120"/>
          </a:xfrm>
          <a:prstGeom prst="rect">
            <a:avLst/>
          </a:prstGeom>
          <a:solidFill>
            <a:srgbClr val="F59E0B"/>
          </a:solidFill>
          <a:ln/>
        </p:spPr>
        <p:txBody>
          <a:bodyPr/>
          <a:lstStyle/>
          <a:p>
            <a:endParaRPr lang="en-US" dirty="0"/>
          </a:p>
        </p:txBody>
      </p:sp>
      <p:sp>
        <p:nvSpPr>
          <p:cNvPr id="15" name="Text 13"/>
          <p:cNvSpPr/>
          <p:nvPr/>
        </p:nvSpPr>
        <p:spPr>
          <a:xfrm>
            <a:off x="731520" y="3913632"/>
            <a:ext cx="1828800" cy="274320"/>
          </a:xfrm>
          <a:prstGeom prst="rect">
            <a:avLst/>
          </a:prstGeom>
          <a:noFill/>
          <a:ln/>
        </p:spPr>
        <p:txBody>
          <a:bodyPr wrap="square" lIns="0" tIns="0" rIns="0" bIns="0" rtlCol="0" anchor="ctr"/>
          <a:lstStyle/>
          <a:p>
            <a:pPr marL="0" indent="0">
              <a:buNone/>
            </a:pPr>
            <a:r>
              <a:rPr lang="tr-TR" sz="1300" b="1" dirty="0">
                <a:solidFill>
                  <a:srgbClr val="1A1F3D"/>
                </a:solidFill>
                <a:latin typeface="Calibri" pitchFamily="34" charset="0"/>
                <a:ea typeface="Calibri" pitchFamily="34" charset="-122"/>
                <a:cs typeface="Calibri" pitchFamily="34" charset="-120"/>
              </a:rPr>
              <a:t>Products Number</a:t>
            </a:r>
            <a:endParaRPr lang="en-US" sz="1300" dirty="0"/>
          </a:p>
        </p:txBody>
      </p:sp>
      <p:sp>
        <p:nvSpPr>
          <p:cNvPr id="16" name="Text 14"/>
          <p:cNvSpPr/>
          <p:nvPr/>
        </p:nvSpPr>
        <p:spPr>
          <a:xfrm>
            <a:off x="731520" y="4187952"/>
            <a:ext cx="7772400" cy="548640"/>
          </a:xfrm>
          <a:prstGeom prst="rect">
            <a:avLst/>
          </a:prstGeom>
          <a:noFill/>
          <a:ln/>
        </p:spPr>
        <p:txBody>
          <a:bodyPr wrap="square" lIns="0" tIns="0" rIns="0" bIns="0" rtlCol="0" anchor="t"/>
          <a:lstStyle/>
          <a:p>
            <a:pPr marL="0" indent="0">
              <a:buNone/>
            </a:pPr>
            <a:r>
              <a:rPr lang="en-US" sz="1100" dirty="0">
                <a:solidFill>
                  <a:srgbClr val="4B5563"/>
                </a:solidFill>
                <a:latin typeface="Calibri" pitchFamily="34" charset="0"/>
                <a:ea typeface="Calibri" pitchFamily="34" charset="-122"/>
                <a:cs typeface="Calibri" pitchFamily="34" charset="-120"/>
              </a:rPr>
              <a:t>3 ve üzeri ürün kullanan müşterilerde churn oranı çok yüksek görünmektedir. Bu gruptaki müşteri sayısının düşük olması nedeniyle bu bulgu tek başına karar vermek için yeterli olmayabilir.  Segmentasyon analizinde ortalama ürün arttıkça müşteri sadakati artmaktadır.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Stratejik Öneriler</a:t>
            </a:r>
            <a:endParaRPr lang="en-US" sz="2800" dirty="0"/>
          </a:p>
        </p:txBody>
      </p:sp>
      <p:sp>
        <p:nvSpPr>
          <p:cNvPr id="3" name="Shape 1"/>
          <p:cNvSpPr/>
          <p:nvPr/>
        </p:nvSpPr>
        <p:spPr>
          <a:xfrm>
            <a:off x="320040" y="91440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320040" y="914400"/>
            <a:ext cx="1965960" cy="54864"/>
          </a:xfrm>
          <a:prstGeom prst="rect">
            <a:avLst/>
          </a:prstGeom>
          <a:solidFill>
            <a:srgbClr val="E8594F"/>
          </a:solidFill>
          <a:ln/>
        </p:spPr>
        <p:txBody>
          <a:bodyPr/>
          <a:lstStyle/>
          <a:p>
            <a:endParaRPr lang="en-US" dirty="0"/>
          </a:p>
        </p:txBody>
      </p:sp>
      <p:sp>
        <p:nvSpPr>
          <p:cNvPr id="5" name="Shape 3"/>
          <p:cNvSpPr/>
          <p:nvPr/>
        </p:nvSpPr>
        <p:spPr>
          <a:xfrm>
            <a:off x="1051560" y="1097280"/>
            <a:ext cx="502920" cy="502920"/>
          </a:xfrm>
          <a:prstGeom prst="ellipse">
            <a:avLst/>
          </a:prstGeom>
          <a:solidFill>
            <a:srgbClr val="E8594F"/>
          </a:solidFill>
          <a:ln/>
        </p:spPr>
        <p:txBody>
          <a:bodyPr/>
          <a:lstStyle/>
          <a:p>
            <a:endParaRPr lang="en-US" dirty="0"/>
          </a:p>
        </p:txBody>
      </p:sp>
      <p:sp>
        <p:nvSpPr>
          <p:cNvPr id="6" name="Text 4"/>
          <p:cNvSpPr/>
          <p:nvPr/>
        </p:nvSpPr>
        <p:spPr>
          <a:xfrm>
            <a:off x="1051560" y="1097280"/>
            <a:ext cx="502920" cy="502920"/>
          </a:xfrm>
          <a:prstGeom prst="rect">
            <a:avLst/>
          </a:prstGeom>
          <a:noFill/>
          <a:ln/>
        </p:spPr>
        <p:txBody>
          <a:bodyPr wrap="square" lIns="0" tIns="0" rIns="0" bIns="0" rtlCol="0" anchor="ctr"/>
          <a:lstStyle/>
          <a:p>
            <a:pPr marL="0" indent="0" algn="ctr">
              <a:buNone/>
            </a:pPr>
            <a:endParaRPr lang="en-US" sz="1600" dirty="0"/>
          </a:p>
        </p:txBody>
      </p:sp>
      <p:sp>
        <p:nvSpPr>
          <p:cNvPr id="7" name="Text 5"/>
          <p:cNvSpPr/>
          <p:nvPr/>
        </p:nvSpPr>
        <p:spPr>
          <a:xfrm>
            <a:off x="411480" y="169164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Erken Uyarı Sistemi</a:t>
            </a:r>
            <a:endParaRPr lang="en-US" sz="1200" dirty="0"/>
          </a:p>
        </p:txBody>
      </p:sp>
      <p:sp>
        <p:nvSpPr>
          <p:cNvPr id="8" name="Text 6"/>
          <p:cNvSpPr/>
          <p:nvPr/>
        </p:nvSpPr>
        <p:spPr>
          <a:xfrm>
            <a:off x="411480" y="201168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Churn riski yüksek müşterilerin önceden tespit edilmesi</a:t>
            </a:r>
            <a:endParaRPr lang="en-US" sz="1000" dirty="0"/>
          </a:p>
        </p:txBody>
      </p:sp>
      <p:sp>
        <p:nvSpPr>
          <p:cNvPr id="9" name="Shape 7"/>
          <p:cNvSpPr/>
          <p:nvPr/>
        </p:nvSpPr>
        <p:spPr>
          <a:xfrm>
            <a:off x="2514600" y="91440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0" name="Shape 8"/>
          <p:cNvSpPr/>
          <p:nvPr/>
        </p:nvSpPr>
        <p:spPr>
          <a:xfrm>
            <a:off x="2514600" y="914400"/>
            <a:ext cx="1965960" cy="54864"/>
          </a:xfrm>
          <a:prstGeom prst="rect">
            <a:avLst/>
          </a:prstGeom>
          <a:solidFill>
            <a:srgbClr val="4A6CF7"/>
          </a:solidFill>
          <a:ln/>
        </p:spPr>
        <p:txBody>
          <a:bodyPr/>
          <a:lstStyle/>
          <a:p>
            <a:endParaRPr lang="en-US" dirty="0"/>
          </a:p>
        </p:txBody>
      </p:sp>
      <p:sp>
        <p:nvSpPr>
          <p:cNvPr id="11" name="Shape 9"/>
          <p:cNvSpPr/>
          <p:nvPr/>
        </p:nvSpPr>
        <p:spPr>
          <a:xfrm>
            <a:off x="3246120" y="1097280"/>
            <a:ext cx="502920" cy="502920"/>
          </a:xfrm>
          <a:prstGeom prst="ellipse">
            <a:avLst/>
          </a:prstGeom>
          <a:solidFill>
            <a:srgbClr val="4A6CF7"/>
          </a:solidFill>
          <a:ln/>
        </p:spPr>
        <p:txBody>
          <a:bodyPr/>
          <a:lstStyle/>
          <a:p>
            <a:endParaRPr lang="en-US" dirty="0"/>
          </a:p>
        </p:txBody>
      </p:sp>
      <p:sp>
        <p:nvSpPr>
          <p:cNvPr id="12" name="Text 10"/>
          <p:cNvSpPr/>
          <p:nvPr/>
        </p:nvSpPr>
        <p:spPr>
          <a:xfrm>
            <a:off x="3246120" y="1097280"/>
            <a:ext cx="502920" cy="502920"/>
          </a:xfrm>
          <a:prstGeom prst="rect">
            <a:avLst/>
          </a:prstGeom>
          <a:noFill/>
          <a:ln/>
        </p:spPr>
        <p:txBody>
          <a:bodyPr wrap="square" lIns="0" tIns="0" rIns="0" bIns="0" rtlCol="0" anchor="ctr"/>
          <a:lstStyle/>
          <a:p>
            <a:pPr marL="0" indent="0" algn="ctr">
              <a:buNone/>
            </a:pPr>
            <a:endParaRPr lang="en-US" sz="1600" dirty="0"/>
          </a:p>
        </p:txBody>
      </p:sp>
      <p:sp>
        <p:nvSpPr>
          <p:cNvPr id="13" name="Text 11"/>
          <p:cNvSpPr/>
          <p:nvPr/>
        </p:nvSpPr>
        <p:spPr>
          <a:xfrm>
            <a:off x="2606040" y="169164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Finansal Yaşam Döngüsü</a:t>
            </a:r>
            <a:endParaRPr lang="en-US" sz="1200" dirty="0"/>
          </a:p>
        </p:txBody>
      </p:sp>
      <p:sp>
        <p:nvSpPr>
          <p:cNvPr id="14" name="Text 12"/>
          <p:cNvSpPr/>
          <p:nvPr/>
        </p:nvSpPr>
        <p:spPr>
          <a:xfrm>
            <a:off x="2606040" y="201168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Yaşa ve ihtiyaca göre ürün önerileri</a:t>
            </a:r>
            <a:endParaRPr lang="en-US" sz="1000" dirty="0"/>
          </a:p>
        </p:txBody>
      </p:sp>
      <p:sp>
        <p:nvSpPr>
          <p:cNvPr id="15" name="Shape 13"/>
          <p:cNvSpPr/>
          <p:nvPr/>
        </p:nvSpPr>
        <p:spPr>
          <a:xfrm>
            <a:off x="4709160" y="91440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6" name="Shape 14"/>
          <p:cNvSpPr/>
          <p:nvPr/>
        </p:nvSpPr>
        <p:spPr>
          <a:xfrm>
            <a:off x="4709160" y="914400"/>
            <a:ext cx="1965960" cy="54864"/>
          </a:xfrm>
          <a:prstGeom prst="rect">
            <a:avLst/>
          </a:prstGeom>
          <a:solidFill>
            <a:srgbClr val="0EA5A0"/>
          </a:solidFill>
          <a:ln/>
        </p:spPr>
        <p:txBody>
          <a:bodyPr/>
          <a:lstStyle/>
          <a:p>
            <a:endParaRPr lang="en-US" dirty="0"/>
          </a:p>
        </p:txBody>
      </p:sp>
      <p:sp>
        <p:nvSpPr>
          <p:cNvPr id="17" name="Shape 15"/>
          <p:cNvSpPr/>
          <p:nvPr/>
        </p:nvSpPr>
        <p:spPr>
          <a:xfrm>
            <a:off x="5440680" y="1097280"/>
            <a:ext cx="502920" cy="502920"/>
          </a:xfrm>
          <a:prstGeom prst="ellipse">
            <a:avLst/>
          </a:prstGeom>
          <a:solidFill>
            <a:srgbClr val="0EA5A0"/>
          </a:solidFill>
          <a:ln/>
        </p:spPr>
        <p:txBody>
          <a:bodyPr/>
          <a:lstStyle/>
          <a:p>
            <a:endParaRPr lang="en-US" dirty="0"/>
          </a:p>
        </p:txBody>
      </p:sp>
      <p:sp>
        <p:nvSpPr>
          <p:cNvPr id="18" name="Text 16"/>
          <p:cNvSpPr/>
          <p:nvPr/>
        </p:nvSpPr>
        <p:spPr>
          <a:xfrm>
            <a:off x="5440680" y="1097280"/>
            <a:ext cx="502920" cy="502920"/>
          </a:xfrm>
          <a:prstGeom prst="rect">
            <a:avLst/>
          </a:prstGeom>
          <a:noFill/>
          <a:ln/>
        </p:spPr>
        <p:txBody>
          <a:bodyPr wrap="square" lIns="0" tIns="0" rIns="0" bIns="0" rtlCol="0" anchor="ctr"/>
          <a:lstStyle/>
          <a:p>
            <a:pPr marL="0" indent="0" algn="ctr">
              <a:buNone/>
            </a:pPr>
            <a:endParaRPr lang="en-US" sz="1600" dirty="0"/>
          </a:p>
        </p:txBody>
      </p:sp>
      <p:sp>
        <p:nvSpPr>
          <p:cNvPr id="19" name="Text 17"/>
          <p:cNvSpPr/>
          <p:nvPr/>
        </p:nvSpPr>
        <p:spPr>
          <a:xfrm>
            <a:off x="4800600" y="169164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Müşteri Çıkış Analizi</a:t>
            </a:r>
            <a:endParaRPr lang="en-US" sz="1200" dirty="0"/>
          </a:p>
        </p:txBody>
      </p:sp>
      <p:sp>
        <p:nvSpPr>
          <p:cNvPr id="20" name="Text 18"/>
          <p:cNvSpPr/>
          <p:nvPr/>
        </p:nvSpPr>
        <p:spPr>
          <a:xfrm>
            <a:off x="4800600" y="201168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Churn nedenlerinin geri bildirimlerle anlaşılması</a:t>
            </a:r>
            <a:endParaRPr lang="en-US" sz="1000" dirty="0"/>
          </a:p>
        </p:txBody>
      </p:sp>
      <p:sp>
        <p:nvSpPr>
          <p:cNvPr id="21" name="Shape 19"/>
          <p:cNvSpPr/>
          <p:nvPr/>
        </p:nvSpPr>
        <p:spPr>
          <a:xfrm>
            <a:off x="6903720" y="91440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2" name="Shape 20"/>
          <p:cNvSpPr/>
          <p:nvPr/>
        </p:nvSpPr>
        <p:spPr>
          <a:xfrm>
            <a:off x="6903720" y="914400"/>
            <a:ext cx="1965960" cy="54864"/>
          </a:xfrm>
          <a:prstGeom prst="rect">
            <a:avLst/>
          </a:prstGeom>
          <a:solidFill>
            <a:srgbClr val="F59E0B"/>
          </a:solidFill>
          <a:ln/>
        </p:spPr>
        <p:txBody>
          <a:bodyPr/>
          <a:lstStyle/>
          <a:p>
            <a:endParaRPr lang="en-US" dirty="0"/>
          </a:p>
        </p:txBody>
      </p:sp>
      <p:sp>
        <p:nvSpPr>
          <p:cNvPr id="23" name="Shape 21"/>
          <p:cNvSpPr/>
          <p:nvPr/>
        </p:nvSpPr>
        <p:spPr>
          <a:xfrm>
            <a:off x="7635240" y="1097280"/>
            <a:ext cx="502920" cy="502920"/>
          </a:xfrm>
          <a:prstGeom prst="ellipse">
            <a:avLst/>
          </a:prstGeom>
          <a:solidFill>
            <a:srgbClr val="F59E0B"/>
          </a:solidFill>
          <a:ln/>
        </p:spPr>
        <p:txBody>
          <a:bodyPr/>
          <a:lstStyle/>
          <a:p>
            <a:endParaRPr lang="en-US" dirty="0"/>
          </a:p>
        </p:txBody>
      </p:sp>
      <p:sp>
        <p:nvSpPr>
          <p:cNvPr id="24" name="Text 22"/>
          <p:cNvSpPr/>
          <p:nvPr/>
        </p:nvSpPr>
        <p:spPr>
          <a:xfrm>
            <a:off x="7635240" y="1097280"/>
            <a:ext cx="502920" cy="502920"/>
          </a:xfrm>
          <a:prstGeom prst="rect">
            <a:avLst/>
          </a:prstGeom>
          <a:noFill/>
          <a:ln/>
        </p:spPr>
        <p:txBody>
          <a:bodyPr wrap="square" lIns="0" tIns="0" rIns="0" bIns="0" rtlCol="0" anchor="ctr"/>
          <a:lstStyle/>
          <a:p>
            <a:pPr marL="0" indent="0" algn="ctr">
              <a:buNone/>
            </a:pPr>
            <a:endParaRPr lang="en-US" sz="1600" dirty="0"/>
          </a:p>
        </p:txBody>
      </p:sp>
      <p:sp>
        <p:nvSpPr>
          <p:cNvPr id="25" name="Text 23"/>
          <p:cNvSpPr/>
          <p:nvPr/>
        </p:nvSpPr>
        <p:spPr>
          <a:xfrm>
            <a:off x="6995160" y="169164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VIP Müşteri Koruma</a:t>
            </a:r>
            <a:endParaRPr lang="en-US" sz="1200" dirty="0"/>
          </a:p>
        </p:txBody>
      </p:sp>
      <p:sp>
        <p:nvSpPr>
          <p:cNvPr id="26" name="Text 24"/>
          <p:cNvSpPr/>
          <p:nvPr/>
        </p:nvSpPr>
        <p:spPr>
          <a:xfrm>
            <a:off x="6995160" y="201168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VIP müşteri deneyimi ve özel teklifler</a:t>
            </a:r>
            <a:endParaRPr lang="en-US" sz="1000" dirty="0"/>
          </a:p>
        </p:txBody>
      </p:sp>
      <p:sp>
        <p:nvSpPr>
          <p:cNvPr id="27" name="Shape 25"/>
          <p:cNvSpPr/>
          <p:nvPr/>
        </p:nvSpPr>
        <p:spPr>
          <a:xfrm>
            <a:off x="320040" y="283464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8" name="Shape 26"/>
          <p:cNvSpPr/>
          <p:nvPr/>
        </p:nvSpPr>
        <p:spPr>
          <a:xfrm>
            <a:off x="320040" y="2834640"/>
            <a:ext cx="1965960" cy="54864"/>
          </a:xfrm>
          <a:prstGeom prst="rect">
            <a:avLst/>
          </a:prstGeom>
          <a:solidFill>
            <a:srgbClr val="10B981"/>
          </a:solidFill>
          <a:ln/>
        </p:spPr>
        <p:txBody>
          <a:bodyPr/>
          <a:lstStyle/>
          <a:p>
            <a:endParaRPr lang="en-US" dirty="0"/>
          </a:p>
        </p:txBody>
      </p:sp>
      <p:sp>
        <p:nvSpPr>
          <p:cNvPr id="29" name="Shape 27"/>
          <p:cNvSpPr/>
          <p:nvPr/>
        </p:nvSpPr>
        <p:spPr>
          <a:xfrm>
            <a:off x="1051560" y="3017520"/>
            <a:ext cx="502920" cy="502920"/>
          </a:xfrm>
          <a:prstGeom prst="ellipse">
            <a:avLst/>
          </a:prstGeom>
          <a:solidFill>
            <a:srgbClr val="10B981"/>
          </a:solidFill>
          <a:ln/>
        </p:spPr>
        <p:txBody>
          <a:bodyPr/>
          <a:lstStyle/>
          <a:p>
            <a:endParaRPr lang="en-US" dirty="0"/>
          </a:p>
        </p:txBody>
      </p:sp>
      <p:sp>
        <p:nvSpPr>
          <p:cNvPr id="30" name="Text 28"/>
          <p:cNvSpPr/>
          <p:nvPr/>
        </p:nvSpPr>
        <p:spPr>
          <a:xfrm>
            <a:off x="1051560" y="3017520"/>
            <a:ext cx="502920" cy="502920"/>
          </a:xfrm>
          <a:prstGeom prst="rect">
            <a:avLst/>
          </a:prstGeom>
          <a:noFill/>
          <a:ln/>
        </p:spPr>
        <p:txBody>
          <a:bodyPr wrap="square" lIns="0" tIns="0" rIns="0" bIns="0" rtlCol="0" anchor="ctr"/>
          <a:lstStyle/>
          <a:p>
            <a:pPr marL="0" indent="0" algn="ctr">
              <a:buNone/>
            </a:pPr>
            <a:endParaRPr lang="en-US" sz="1600" dirty="0"/>
          </a:p>
        </p:txBody>
      </p:sp>
      <p:sp>
        <p:nvSpPr>
          <p:cNvPr id="31" name="Text 29"/>
          <p:cNvSpPr/>
          <p:nvPr/>
        </p:nvSpPr>
        <p:spPr>
          <a:xfrm>
            <a:off x="411480" y="361188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Cross-Selling</a:t>
            </a:r>
            <a:endParaRPr lang="en-US" sz="1200" dirty="0"/>
          </a:p>
        </p:txBody>
      </p:sp>
      <p:sp>
        <p:nvSpPr>
          <p:cNvPr id="32" name="Text 30"/>
          <p:cNvSpPr/>
          <p:nvPr/>
        </p:nvSpPr>
        <p:spPr>
          <a:xfrm>
            <a:off x="411480" y="393192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Tek ürün kullanan müşterilere yeni ürün önerileri</a:t>
            </a:r>
            <a:endParaRPr lang="en-US" sz="1000" dirty="0"/>
          </a:p>
        </p:txBody>
      </p:sp>
      <p:sp>
        <p:nvSpPr>
          <p:cNvPr id="33" name="Shape 31"/>
          <p:cNvSpPr/>
          <p:nvPr/>
        </p:nvSpPr>
        <p:spPr>
          <a:xfrm>
            <a:off x="2514600" y="283464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34" name="Shape 32"/>
          <p:cNvSpPr/>
          <p:nvPr/>
        </p:nvSpPr>
        <p:spPr>
          <a:xfrm>
            <a:off x="2514600" y="2834640"/>
            <a:ext cx="1965960" cy="54864"/>
          </a:xfrm>
          <a:prstGeom prst="rect">
            <a:avLst/>
          </a:prstGeom>
          <a:solidFill>
            <a:srgbClr val="4A6CF7"/>
          </a:solidFill>
          <a:ln/>
        </p:spPr>
        <p:txBody>
          <a:bodyPr/>
          <a:lstStyle/>
          <a:p>
            <a:endParaRPr lang="en-US" dirty="0"/>
          </a:p>
        </p:txBody>
      </p:sp>
      <p:sp>
        <p:nvSpPr>
          <p:cNvPr id="35" name="Shape 33"/>
          <p:cNvSpPr/>
          <p:nvPr/>
        </p:nvSpPr>
        <p:spPr>
          <a:xfrm>
            <a:off x="3246120" y="3017520"/>
            <a:ext cx="502920" cy="502920"/>
          </a:xfrm>
          <a:prstGeom prst="ellipse">
            <a:avLst/>
          </a:prstGeom>
          <a:solidFill>
            <a:srgbClr val="4A6CF7"/>
          </a:solidFill>
          <a:ln/>
        </p:spPr>
        <p:txBody>
          <a:bodyPr/>
          <a:lstStyle/>
          <a:p>
            <a:endParaRPr lang="en-US" dirty="0"/>
          </a:p>
        </p:txBody>
      </p:sp>
      <p:sp>
        <p:nvSpPr>
          <p:cNvPr id="36" name="Text 34"/>
          <p:cNvSpPr/>
          <p:nvPr/>
        </p:nvSpPr>
        <p:spPr>
          <a:xfrm>
            <a:off x="3246120" y="3017520"/>
            <a:ext cx="502920" cy="502920"/>
          </a:xfrm>
          <a:prstGeom prst="rect">
            <a:avLst/>
          </a:prstGeom>
          <a:noFill/>
          <a:ln/>
        </p:spPr>
        <p:txBody>
          <a:bodyPr wrap="square" lIns="0" tIns="0" rIns="0" bIns="0" rtlCol="0" anchor="ctr"/>
          <a:lstStyle/>
          <a:p>
            <a:pPr marL="0" indent="0" algn="ctr">
              <a:buNone/>
            </a:pPr>
            <a:endParaRPr lang="en-US" sz="1600" dirty="0"/>
          </a:p>
        </p:txBody>
      </p:sp>
      <p:sp>
        <p:nvSpPr>
          <p:cNvPr id="37" name="Text 35"/>
          <p:cNvSpPr/>
          <p:nvPr/>
        </p:nvSpPr>
        <p:spPr>
          <a:xfrm>
            <a:off x="2606040" y="361188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Akıllı Bildirim</a:t>
            </a:r>
            <a:endParaRPr lang="en-US" sz="1200" dirty="0"/>
          </a:p>
        </p:txBody>
      </p:sp>
      <p:sp>
        <p:nvSpPr>
          <p:cNvPr id="38" name="Text 36"/>
          <p:cNvSpPr/>
          <p:nvPr/>
        </p:nvSpPr>
        <p:spPr>
          <a:xfrm>
            <a:off x="2606040" y="393192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Davranış bazlı kişiselleştirilmiş bildirimler</a:t>
            </a:r>
            <a:endParaRPr lang="en-US" sz="1000" dirty="0"/>
          </a:p>
        </p:txBody>
      </p:sp>
      <p:sp>
        <p:nvSpPr>
          <p:cNvPr id="39" name="Shape 37"/>
          <p:cNvSpPr/>
          <p:nvPr/>
        </p:nvSpPr>
        <p:spPr>
          <a:xfrm>
            <a:off x="4709160" y="283464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0" name="Shape 38"/>
          <p:cNvSpPr/>
          <p:nvPr/>
        </p:nvSpPr>
        <p:spPr>
          <a:xfrm>
            <a:off x="4709160" y="2834640"/>
            <a:ext cx="1965960" cy="54864"/>
          </a:xfrm>
          <a:prstGeom prst="rect">
            <a:avLst/>
          </a:prstGeom>
          <a:solidFill>
            <a:srgbClr val="0EA5A0"/>
          </a:solidFill>
          <a:ln/>
        </p:spPr>
        <p:txBody>
          <a:bodyPr/>
          <a:lstStyle/>
          <a:p>
            <a:endParaRPr lang="en-US" dirty="0"/>
          </a:p>
        </p:txBody>
      </p:sp>
      <p:sp>
        <p:nvSpPr>
          <p:cNvPr id="41" name="Shape 39"/>
          <p:cNvSpPr/>
          <p:nvPr/>
        </p:nvSpPr>
        <p:spPr>
          <a:xfrm>
            <a:off x="5440680" y="3017520"/>
            <a:ext cx="502920" cy="502920"/>
          </a:xfrm>
          <a:prstGeom prst="ellipse">
            <a:avLst/>
          </a:prstGeom>
          <a:solidFill>
            <a:srgbClr val="0EA5A0"/>
          </a:solidFill>
          <a:ln/>
        </p:spPr>
        <p:txBody>
          <a:bodyPr/>
          <a:lstStyle/>
          <a:p>
            <a:endParaRPr lang="en-US" dirty="0"/>
          </a:p>
        </p:txBody>
      </p:sp>
      <p:sp>
        <p:nvSpPr>
          <p:cNvPr id="42" name="Text 40"/>
          <p:cNvSpPr/>
          <p:nvPr/>
        </p:nvSpPr>
        <p:spPr>
          <a:xfrm>
            <a:off x="5440680" y="3017520"/>
            <a:ext cx="502920" cy="502920"/>
          </a:xfrm>
          <a:prstGeom prst="rect">
            <a:avLst/>
          </a:prstGeom>
          <a:noFill/>
          <a:ln/>
        </p:spPr>
        <p:txBody>
          <a:bodyPr wrap="square" lIns="0" tIns="0" rIns="0" bIns="0" rtlCol="0" anchor="ctr"/>
          <a:lstStyle/>
          <a:p>
            <a:pPr marL="0" indent="0" algn="ctr">
              <a:buNone/>
            </a:pPr>
            <a:endParaRPr lang="en-US" sz="1600" dirty="0"/>
          </a:p>
        </p:txBody>
      </p:sp>
      <p:sp>
        <p:nvSpPr>
          <p:cNvPr id="43" name="Text 41"/>
          <p:cNvSpPr/>
          <p:nvPr/>
        </p:nvSpPr>
        <p:spPr>
          <a:xfrm>
            <a:off x="4800600" y="361188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Pasif Aktivasyon</a:t>
            </a:r>
            <a:endParaRPr lang="en-US" sz="1200" dirty="0"/>
          </a:p>
        </p:txBody>
      </p:sp>
      <p:sp>
        <p:nvSpPr>
          <p:cNvPr id="44" name="Text 42"/>
          <p:cNvSpPr/>
          <p:nvPr/>
        </p:nvSpPr>
        <p:spPr>
          <a:xfrm>
            <a:off x="4800600" y="393192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Mobil bankacılık ve işlem teşvikleri</a:t>
            </a:r>
            <a:endParaRPr lang="en-US" sz="1000" dirty="0"/>
          </a:p>
        </p:txBody>
      </p:sp>
      <p:sp>
        <p:nvSpPr>
          <p:cNvPr id="45" name="Shape 43"/>
          <p:cNvSpPr/>
          <p:nvPr/>
        </p:nvSpPr>
        <p:spPr>
          <a:xfrm>
            <a:off x="6903720" y="283464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6" name="Shape 44"/>
          <p:cNvSpPr/>
          <p:nvPr/>
        </p:nvSpPr>
        <p:spPr>
          <a:xfrm>
            <a:off x="6903720" y="2834640"/>
            <a:ext cx="1965960" cy="54864"/>
          </a:xfrm>
          <a:prstGeom prst="rect">
            <a:avLst/>
          </a:prstGeom>
          <a:solidFill>
            <a:srgbClr val="E8594F"/>
          </a:solidFill>
          <a:ln/>
        </p:spPr>
        <p:txBody>
          <a:bodyPr/>
          <a:lstStyle/>
          <a:p>
            <a:endParaRPr lang="en-US" dirty="0"/>
          </a:p>
        </p:txBody>
      </p:sp>
      <p:sp>
        <p:nvSpPr>
          <p:cNvPr id="47" name="Shape 45"/>
          <p:cNvSpPr/>
          <p:nvPr/>
        </p:nvSpPr>
        <p:spPr>
          <a:xfrm>
            <a:off x="7635240" y="3017520"/>
            <a:ext cx="502920" cy="502920"/>
          </a:xfrm>
          <a:prstGeom prst="ellipse">
            <a:avLst/>
          </a:prstGeom>
          <a:solidFill>
            <a:srgbClr val="E8594F"/>
          </a:solidFill>
          <a:ln/>
        </p:spPr>
        <p:txBody>
          <a:bodyPr/>
          <a:lstStyle/>
          <a:p>
            <a:endParaRPr lang="en-US" dirty="0"/>
          </a:p>
        </p:txBody>
      </p:sp>
      <p:sp>
        <p:nvSpPr>
          <p:cNvPr id="48" name="Text 46"/>
          <p:cNvSpPr/>
          <p:nvPr/>
        </p:nvSpPr>
        <p:spPr>
          <a:xfrm>
            <a:off x="7635240" y="3017520"/>
            <a:ext cx="502920" cy="502920"/>
          </a:xfrm>
          <a:prstGeom prst="rect">
            <a:avLst/>
          </a:prstGeom>
          <a:noFill/>
          <a:ln/>
        </p:spPr>
        <p:txBody>
          <a:bodyPr wrap="square" lIns="0" tIns="0" rIns="0" bIns="0" rtlCol="0" anchor="ctr"/>
          <a:lstStyle/>
          <a:p>
            <a:pPr marL="0" indent="0" algn="ctr">
              <a:buNone/>
            </a:pPr>
            <a:endParaRPr lang="en-US" sz="1600" dirty="0"/>
          </a:p>
        </p:txBody>
      </p:sp>
      <p:sp>
        <p:nvSpPr>
          <p:cNvPr id="49" name="Text 47"/>
          <p:cNvSpPr/>
          <p:nvPr/>
        </p:nvSpPr>
        <p:spPr>
          <a:xfrm>
            <a:off x="6995160" y="361188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Kampanyalar</a:t>
            </a:r>
            <a:endParaRPr lang="en-US" sz="1200" dirty="0"/>
          </a:p>
        </p:txBody>
      </p:sp>
      <p:sp>
        <p:nvSpPr>
          <p:cNvPr id="50" name="Text 48"/>
          <p:cNvSpPr/>
          <p:nvPr/>
        </p:nvSpPr>
        <p:spPr>
          <a:xfrm>
            <a:off x="6995160" y="393192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İşlem teşvikleri ve bonus ödüller</a:t>
            </a:r>
            <a:endParaRPr lang="en-US" sz="1000" dirty="0"/>
          </a:p>
        </p:txBody>
      </p:sp>
      <p:pic>
        <p:nvPicPr>
          <p:cNvPr id="2050" name="Picture 2" descr=":bulb:">
            <a:extLst>
              <a:ext uri="{FF2B5EF4-FFF2-40B4-BE49-F238E27FC236}">
                <a16:creationId xmlns:a16="http://schemas.microsoft.com/office/drawing/2014/main" id="{48A8E7FB-1F61-AE17-6914-D89D2C9320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245" y="1248191"/>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rown:">
            <a:extLst>
              <a:ext uri="{FF2B5EF4-FFF2-40B4-BE49-F238E27FC236}">
                <a16:creationId xmlns:a16="http://schemas.microsoft.com/office/drawing/2014/main" id="{4D6BD74C-72DF-F9C4-B763-3A8F7153A2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1925" y="1225677"/>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ink:">
            <a:extLst>
              <a:ext uri="{FF2B5EF4-FFF2-40B4-BE49-F238E27FC236}">
                <a16:creationId xmlns:a16="http://schemas.microsoft.com/office/drawing/2014/main" id="{6AF6CE69-7395-3846-C485-E31C9D7AE9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5172" y="3137535"/>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hart_with_upwards_trend:">
            <a:extLst>
              <a:ext uri="{FF2B5EF4-FFF2-40B4-BE49-F238E27FC236}">
                <a16:creationId xmlns:a16="http://schemas.microsoft.com/office/drawing/2014/main" id="{3D8E99F6-63DF-9483-61EA-E2D7F02080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7365" y="3145917"/>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mag_right:">
            <a:extLst>
              <a:ext uri="{FF2B5EF4-FFF2-40B4-BE49-F238E27FC236}">
                <a16:creationId xmlns:a16="http://schemas.microsoft.com/office/drawing/2014/main" id="{BB979DA8-61A0-CC78-93FD-E598A464C6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7365" y="1249923"/>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bell:">
            <a:extLst>
              <a:ext uri="{FF2B5EF4-FFF2-40B4-BE49-F238E27FC236}">
                <a16:creationId xmlns:a16="http://schemas.microsoft.com/office/drawing/2014/main" id="{660ACB73-7886-CAC1-0633-829682EBC0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92805" y="3164205"/>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gift:">
            <a:extLst>
              <a:ext uri="{FF2B5EF4-FFF2-40B4-BE49-F238E27FC236}">
                <a16:creationId xmlns:a16="http://schemas.microsoft.com/office/drawing/2014/main" id="{A36B1CC6-7DE5-F612-B693-1FE4B139C9C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81925" y="3164205"/>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bar_chart:">
            <a:extLst>
              <a:ext uri="{FF2B5EF4-FFF2-40B4-BE49-F238E27FC236}">
                <a16:creationId xmlns:a16="http://schemas.microsoft.com/office/drawing/2014/main" id="{D98B2540-A319-481D-83A8-0CB09C6EC0E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2805" y="1248191"/>
            <a:ext cx="209550" cy="209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tr-TR" sz="2800" b="1" dirty="0">
                <a:solidFill>
                  <a:srgbClr val="1A1F3D"/>
                </a:solidFill>
                <a:latin typeface="Calibri" pitchFamily="34" charset="0"/>
                <a:ea typeface="Calibri" pitchFamily="34" charset="-122"/>
                <a:cs typeface="Calibri" pitchFamily="34" charset="-120"/>
              </a:rPr>
              <a:t>Sonuç</a:t>
            </a:r>
            <a:endParaRPr lang="en-US" sz="2800" dirty="0"/>
          </a:p>
        </p:txBody>
      </p:sp>
      <p:sp>
        <p:nvSpPr>
          <p:cNvPr id="3" name="Shape 1"/>
          <p:cNvSpPr/>
          <p:nvPr/>
        </p:nvSpPr>
        <p:spPr>
          <a:xfrm>
            <a:off x="457200" y="914400"/>
            <a:ext cx="822960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457200" y="914400"/>
            <a:ext cx="54864" cy="1097280"/>
          </a:xfrm>
          <a:prstGeom prst="rect">
            <a:avLst/>
          </a:prstGeom>
          <a:solidFill>
            <a:srgbClr val="4A6CF7"/>
          </a:solidFill>
          <a:ln/>
        </p:spPr>
        <p:txBody>
          <a:bodyPr/>
          <a:lstStyle/>
          <a:p>
            <a:endParaRPr lang="en-US" dirty="0"/>
          </a:p>
        </p:txBody>
      </p:sp>
      <p:sp>
        <p:nvSpPr>
          <p:cNvPr id="5" name="Text 3"/>
          <p:cNvSpPr/>
          <p:nvPr/>
        </p:nvSpPr>
        <p:spPr>
          <a:xfrm>
            <a:off x="457200" y="914400"/>
            <a:ext cx="8046720" cy="1097280"/>
          </a:xfrm>
          <a:prstGeom prst="rect">
            <a:avLst/>
          </a:prstGeom>
          <a:noFill/>
          <a:ln/>
        </p:spPr>
        <p:txBody>
          <a:bodyPr wrap="square" rtlCol="0" anchor="ctr"/>
          <a:lstStyle/>
          <a:p>
            <a:r>
              <a:rPr lang="en-US" sz="1400" dirty="0">
                <a:latin typeface="+mj-lt"/>
              </a:rPr>
              <a:t>Elde edilen bulgular, bankanın riskli müşteri gruplarını daha erken fark etmesine ve müşteri kaybını azaltmaya yönelik daha planlı çalışmalar yapmasına yardımcı olabilecek analitik bir temel sunmaktadır.</a:t>
            </a:r>
          </a:p>
          <a:p>
            <a:endParaRPr lang="en-US" sz="1400" dirty="0">
              <a:latin typeface="+mj-lt"/>
            </a:endParaRPr>
          </a:p>
          <a:p>
            <a:r>
              <a:rPr lang="en-US" sz="1400" dirty="0">
                <a:latin typeface="+mj-lt"/>
                <a:ea typeface="Calibri" pitchFamily="34" charset="-122"/>
                <a:cs typeface="Calibri" pitchFamily="34" charset="-120"/>
              </a:rPr>
              <a:t>Bu müşterilere özel iletişim, kampanya ve deneyim stratejileri uygulanarak churn azaltılabilir.</a:t>
            </a:r>
          </a:p>
          <a:p>
            <a:endParaRPr lang="en-US" sz="1400" dirty="0"/>
          </a:p>
        </p:txBody>
      </p:sp>
      <p:sp>
        <p:nvSpPr>
          <p:cNvPr id="6" name="Shape 4"/>
          <p:cNvSpPr/>
          <p:nvPr/>
        </p:nvSpPr>
        <p:spPr>
          <a:xfrm>
            <a:off x="320040" y="2286000"/>
            <a:ext cx="196596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7" name="Shape 5"/>
          <p:cNvSpPr/>
          <p:nvPr/>
        </p:nvSpPr>
        <p:spPr>
          <a:xfrm>
            <a:off x="320040" y="2286000"/>
            <a:ext cx="1965960" cy="54864"/>
          </a:xfrm>
          <a:prstGeom prst="rect">
            <a:avLst/>
          </a:prstGeom>
          <a:solidFill>
            <a:srgbClr val="4A6CF7"/>
          </a:solidFill>
          <a:ln/>
        </p:spPr>
        <p:txBody>
          <a:bodyPr/>
          <a:lstStyle/>
          <a:p>
            <a:endParaRPr lang="en-US" dirty="0"/>
          </a:p>
        </p:txBody>
      </p:sp>
      <p:sp>
        <p:nvSpPr>
          <p:cNvPr id="8" name="Shape 6"/>
          <p:cNvSpPr/>
          <p:nvPr/>
        </p:nvSpPr>
        <p:spPr>
          <a:xfrm>
            <a:off x="1051560" y="2468880"/>
            <a:ext cx="502920" cy="502920"/>
          </a:xfrm>
          <a:prstGeom prst="ellipse">
            <a:avLst/>
          </a:prstGeom>
          <a:solidFill>
            <a:srgbClr val="4A6CF7"/>
          </a:solidFill>
          <a:ln/>
        </p:spPr>
        <p:txBody>
          <a:bodyPr/>
          <a:lstStyle/>
          <a:p>
            <a:endParaRPr lang="en-US" dirty="0"/>
          </a:p>
        </p:txBody>
      </p:sp>
      <p:sp>
        <p:nvSpPr>
          <p:cNvPr id="9" name="Text 7"/>
          <p:cNvSpPr/>
          <p:nvPr/>
        </p:nvSpPr>
        <p:spPr>
          <a:xfrm>
            <a:off x="105156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411480" y="3063240"/>
            <a:ext cx="1783080" cy="457200"/>
          </a:xfrm>
          <a:prstGeom prst="rect">
            <a:avLst/>
          </a:prstGeom>
          <a:noFill/>
          <a:ln/>
        </p:spPr>
        <p:txBody>
          <a:bodyPr wrap="square" lIns="0" tIns="0" rIns="0" bIns="0" rtlCol="0" anchor="t"/>
          <a:lstStyle/>
          <a:p>
            <a:pPr marL="0" indent="0" algn="ctr">
              <a:buNone/>
            </a:pPr>
            <a:r>
              <a:rPr lang="en-US" sz="1100" dirty="0">
                <a:solidFill>
                  <a:srgbClr val="1E2235"/>
                </a:solidFill>
                <a:latin typeface="Calibri" pitchFamily="34" charset="0"/>
                <a:ea typeface="Calibri" pitchFamily="34" charset="-122"/>
                <a:cs typeface="Calibri" pitchFamily="34" charset="-120"/>
              </a:rPr>
              <a:t>Churn davranışı veri ile anlaşılmıştır</a:t>
            </a:r>
            <a:endParaRPr lang="en-US" sz="1100" dirty="0"/>
          </a:p>
        </p:txBody>
      </p:sp>
      <p:sp>
        <p:nvSpPr>
          <p:cNvPr id="11" name="Shape 9"/>
          <p:cNvSpPr/>
          <p:nvPr/>
        </p:nvSpPr>
        <p:spPr>
          <a:xfrm>
            <a:off x="2468880" y="2286000"/>
            <a:ext cx="196596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2" name="Shape 10"/>
          <p:cNvSpPr/>
          <p:nvPr/>
        </p:nvSpPr>
        <p:spPr>
          <a:xfrm>
            <a:off x="2468880" y="2286000"/>
            <a:ext cx="1965960" cy="54864"/>
          </a:xfrm>
          <a:prstGeom prst="rect">
            <a:avLst/>
          </a:prstGeom>
          <a:solidFill>
            <a:srgbClr val="0EA5A0"/>
          </a:solidFill>
          <a:ln/>
        </p:spPr>
        <p:txBody>
          <a:bodyPr/>
          <a:lstStyle/>
          <a:p>
            <a:endParaRPr lang="en-US" dirty="0"/>
          </a:p>
        </p:txBody>
      </p:sp>
      <p:sp>
        <p:nvSpPr>
          <p:cNvPr id="13" name="Shape 11"/>
          <p:cNvSpPr/>
          <p:nvPr/>
        </p:nvSpPr>
        <p:spPr>
          <a:xfrm>
            <a:off x="3200400" y="2468880"/>
            <a:ext cx="502920" cy="502920"/>
          </a:xfrm>
          <a:prstGeom prst="ellipse">
            <a:avLst/>
          </a:prstGeom>
          <a:solidFill>
            <a:srgbClr val="0EA5A0"/>
          </a:solidFill>
          <a:ln/>
        </p:spPr>
        <p:txBody>
          <a:bodyPr/>
          <a:lstStyle/>
          <a:p>
            <a:endParaRPr lang="en-US" dirty="0"/>
          </a:p>
        </p:txBody>
      </p:sp>
      <p:sp>
        <p:nvSpPr>
          <p:cNvPr id="14" name="Text 12"/>
          <p:cNvSpPr/>
          <p:nvPr/>
        </p:nvSpPr>
        <p:spPr>
          <a:xfrm>
            <a:off x="320040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2560320" y="3063240"/>
            <a:ext cx="1783080" cy="457200"/>
          </a:xfrm>
          <a:prstGeom prst="rect">
            <a:avLst/>
          </a:prstGeom>
          <a:noFill/>
          <a:ln/>
        </p:spPr>
        <p:txBody>
          <a:bodyPr wrap="square" lIns="0" tIns="0" rIns="0" bIns="0" rtlCol="0" anchor="t"/>
          <a:lstStyle/>
          <a:p>
            <a:pPr marL="0" indent="0" algn="ctr">
              <a:buNone/>
            </a:pPr>
            <a:r>
              <a:rPr lang="en-US" sz="1100" dirty="0">
                <a:solidFill>
                  <a:srgbClr val="1E2235"/>
                </a:solidFill>
                <a:latin typeface="Calibri" pitchFamily="34" charset="0"/>
                <a:ea typeface="Calibri" pitchFamily="34" charset="-122"/>
                <a:cs typeface="Calibri" pitchFamily="34" charset="-120"/>
              </a:rPr>
              <a:t>Riskli müşteri segmentleri belirlenmiştir</a:t>
            </a:r>
            <a:endParaRPr lang="en-US" sz="1100" dirty="0"/>
          </a:p>
        </p:txBody>
      </p:sp>
      <p:sp>
        <p:nvSpPr>
          <p:cNvPr id="16" name="Shape 14"/>
          <p:cNvSpPr/>
          <p:nvPr/>
        </p:nvSpPr>
        <p:spPr>
          <a:xfrm>
            <a:off x="4617720" y="2286000"/>
            <a:ext cx="196596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7" name="Shape 15"/>
          <p:cNvSpPr/>
          <p:nvPr/>
        </p:nvSpPr>
        <p:spPr>
          <a:xfrm>
            <a:off x="4617720" y="2286000"/>
            <a:ext cx="1965960" cy="54864"/>
          </a:xfrm>
          <a:prstGeom prst="rect">
            <a:avLst/>
          </a:prstGeom>
          <a:solidFill>
            <a:srgbClr val="10B981"/>
          </a:solidFill>
          <a:ln/>
        </p:spPr>
        <p:txBody>
          <a:bodyPr/>
          <a:lstStyle/>
          <a:p>
            <a:endParaRPr lang="en-US" dirty="0"/>
          </a:p>
        </p:txBody>
      </p:sp>
      <p:sp>
        <p:nvSpPr>
          <p:cNvPr id="18" name="Shape 16"/>
          <p:cNvSpPr/>
          <p:nvPr/>
        </p:nvSpPr>
        <p:spPr>
          <a:xfrm>
            <a:off x="5349240" y="2468880"/>
            <a:ext cx="502920" cy="502920"/>
          </a:xfrm>
          <a:prstGeom prst="ellipse">
            <a:avLst/>
          </a:prstGeom>
          <a:solidFill>
            <a:srgbClr val="10B981"/>
          </a:solidFill>
          <a:ln/>
        </p:spPr>
        <p:txBody>
          <a:bodyPr/>
          <a:lstStyle/>
          <a:p>
            <a:endParaRPr lang="en-US" dirty="0"/>
          </a:p>
        </p:txBody>
      </p:sp>
      <p:sp>
        <p:nvSpPr>
          <p:cNvPr id="19" name="Text 17"/>
          <p:cNvSpPr/>
          <p:nvPr/>
        </p:nvSpPr>
        <p:spPr>
          <a:xfrm>
            <a:off x="534924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4709160" y="3063240"/>
            <a:ext cx="1783080" cy="457200"/>
          </a:xfrm>
          <a:prstGeom prst="rect">
            <a:avLst/>
          </a:prstGeom>
          <a:noFill/>
          <a:ln/>
        </p:spPr>
        <p:txBody>
          <a:bodyPr wrap="square" lIns="0" tIns="0" rIns="0" bIns="0" rtlCol="0" anchor="t"/>
          <a:lstStyle/>
          <a:p>
            <a:pPr marL="0" indent="0" algn="ctr">
              <a:buNone/>
            </a:pPr>
            <a:r>
              <a:rPr lang="en-US" sz="1100" dirty="0">
                <a:solidFill>
                  <a:srgbClr val="1E2235"/>
                </a:solidFill>
                <a:latin typeface="Calibri" pitchFamily="34" charset="0"/>
                <a:ea typeface="Calibri" pitchFamily="34" charset="-122"/>
                <a:cs typeface="Calibri" pitchFamily="34" charset="-120"/>
              </a:rPr>
              <a:t>Tahmin modeli geliştirilmiştir</a:t>
            </a:r>
            <a:endParaRPr lang="en-US" sz="1100" dirty="0"/>
          </a:p>
        </p:txBody>
      </p:sp>
      <p:sp>
        <p:nvSpPr>
          <p:cNvPr id="21" name="Shape 19"/>
          <p:cNvSpPr/>
          <p:nvPr/>
        </p:nvSpPr>
        <p:spPr>
          <a:xfrm>
            <a:off x="6766560" y="2286000"/>
            <a:ext cx="196596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2" name="Shape 20"/>
          <p:cNvSpPr/>
          <p:nvPr/>
        </p:nvSpPr>
        <p:spPr>
          <a:xfrm>
            <a:off x="6766560" y="2286000"/>
            <a:ext cx="1965960" cy="54864"/>
          </a:xfrm>
          <a:prstGeom prst="rect">
            <a:avLst/>
          </a:prstGeom>
          <a:solidFill>
            <a:srgbClr val="F59E0B"/>
          </a:solidFill>
          <a:ln/>
        </p:spPr>
        <p:txBody>
          <a:bodyPr/>
          <a:lstStyle/>
          <a:p>
            <a:endParaRPr lang="en-US" dirty="0"/>
          </a:p>
        </p:txBody>
      </p:sp>
      <p:sp>
        <p:nvSpPr>
          <p:cNvPr id="23" name="Shape 21"/>
          <p:cNvSpPr/>
          <p:nvPr/>
        </p:nvSpPr>
        <p:spPr>
          <a:xfrm>
            <a:off x="7498080" y="2468880"/>
            <a:ext cx="502920" cy="502920"/>
          </a:xfrm>
          <a:prstGeom prst="ellipse">
            <a:avLst/>
          </a:prstGeom>
          <a:solidFill>
            <a:srgbClr val="F59E0B"/>
          </a:solidFill>
          <a:ln/>
        </p:spPr>
        <p:txBody>
          <a:bodyPr/>
          <a:lstStyle/>
          <a:p>
            <a:endParaRPr lang="en-US" dirty="0"/>
          </a:p>
        </p:txBody>
      </p:sp>
      <p:sp>
        <p:nvSpPr>
          <p:cNvPr id="24" name="Text 22"/>
          <p:cNvSpPr/>
          <p:nvPr/>
        </p:nvSpPr>
        <p:spPr>
          <a:xfrm>
            <a:off x="749808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5" name="Text 23"/>
          <p:cNvSpPr/>
          <p:nvPr/>
        </p:nvSpPr>
        <p:spPr>
          <a:xfrm>
            <a:off x="6858000" y="3063240"/>
            <a:ext cx="1783080" cy="457200"/>
          </a:xfrm>
          <a:prstGeom prst="rect">
            <a:avLst/>
          </a:prstGeom>
          <a:noFill/>
          <a:ln/>
        </p:spPr>
        <p:txBody>
          <a:bodyPr wrap="square" lIns="0" tIns="0" rIns="0" bIns="0" rtlCol="0" anchor="t"/>
          <a:lstStyle/>
          <a:p>
            <a:pPr marL="0" indent="0" algn="ctr">
              <a:buNone/>
            </a:pPr>
            <a:r>
              <a:rPr lang="en-US" sz="1100" dirty="0">
                <a:solidFill>
                  <a:srgbClr val="1E2235"/>
                </a:solidFill>
                <a:latin typeface="Calibri" pitchFamily="34" charset="0"/>
                <a:ea typeface="Calibri" pitchFamily="34" charset="-122"/>
                <a:cs typeface="Calibri" pitchFamily="34" charset="-120"/>
              </a:rPr>
              <a:t>İş kararları için analitik temel oluşturulmuştur</a:t>
            </a:r>
            <a:endParaRPr lang="en-US" sz="1100" dirty="0"/>
          </a:p>
        </p:txBody>
      </p:sp>
      <p:sp>
        <p:nvSpPr>
          <p:cNvPr id="26" name="Shape 24"/>
          <p:cNvSpPr/>
          <p:nvPr/>
        </p:nvSpPr>
        <p:spPr>
          <a:xfrm>
            <a:off x="457200" y="3840480"/>
            <a:ext cx="8229600" cy="8229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7" name="Shape 25"/>
          <p:cNvSpPr/>
          <p:nvPr/>
        </p:nvSpPr>
        <p:spPr>
          <a:xfrm>
            <a:off x="457200" y="3840480"/>
            <a:ext cx="54864" cy="822960"/>
          </a:xfrm>
          <a:prstGeom prst="rect">
            <a:avLst/>
          </a:prstGeom>
          <a:solidFill>
            <a:srgbClr val="10B981"/>
          </a:solidFill>
          <a:ln/>
        </p:spPr>
        <p:txBody>
          <a:bodyPr/>
          <a:lstStyle/>
          <a:p>
            <a:endParaRPr lang="en-US" dirty="0"/>
          </a:p>
        </p:txBody>
      </p:sp>
      <p:sp>
        <p:nvSpPr>
          <p:cNvPr id="28" name="Text 26"/>
          <p:cNvSpPr/>
          <p:nvPr/>
        </p:nvSpPr>
        <p:spPr>
          <a:xfrm>
            <a:off x="731520" y="3840480"/>
            <a:ext cx="7772400" cy="822960"/>
          </a:xfrm>
          <a:prstGeom prst="rect">
            <a:avLst/>
          </a:prstGeom>
          <a:noFill/>
          <a:ln/>
        </p:spPr>
        <p:txBody>
          <a:bodyPr wrap="square" rtlCol="0" anchor="ctr"/>
          <a:lstStyle/>
          <a:p>
            <a:pPr marL="0" indent="0">
              <a:buNone/>
            </a:pPr>
            <a:r>
              <a:rPr lang="en-US" sz="1300" dirty="0">
                <a:solidFill>
                  <a:srgbClr val="4B5563"/>
                </a:solidFill>
                <a:latin typeface="Calibri" pitchFamily="34" charset="0"/>
                <a:ea typeface="Calibri" pitchFamily="34" charset="-122"/>
                <a:cs typeface="Calibri" pitchFamily="34" charset="-120"/>
              </a:rPr>
              <a:t>Bu müşterilere özel iletişim, kampanya ve deneyim stratejileri uygulanarak churn azaltılabilir.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560</TotalTime>
  <Words>1168</Words>
  <Application>Microsoft Macintosh PowerPoint</Application>
  <PresentationFormat>Ekran Gösterisi (16:9)</PresentationFormat>
  <Paragraphs>259</Paragraphs>
  <Slides>25</Slides>
  <Notes>24</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25</vt:i4>
      </vt:variant>
    </vt:vector>
  </HeadingPairs>
  <TitlesOfParts>
    <vt:vector size="28" baseType="lpstr">
      <vt:lpstr>Arial</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Analysis</dc:title>
  <dc:subject>PptxGenJS Presentation</dc:subject>
  <dc:creator>Churn Analysis Team</dc:creator>
  <cp:lastModifiedBy>ceren göya</cp:lastModifiedBy>
  <cp:revision>38</cp:revision>
  <cp:lastPrinted>2026-03-16T08:52:31Z</cp:lastPrinted>
  <dcterms:created xsi:type="dcterms:W3CDTF">2026-03-15T14:01:53Z</dcterms:created>
  <dcterms:modified xsi:type="dcterms:W3CDTF">2026-03-16T21:34:37Z</dcterms:modified>
</cp:coreProperties>
</file>